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7475200" cy="9753600"/>
  <p:notesSz cx="17475200" cy="9753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59" d="100"/>
          <a:sy n="59" d="100"/>
        </p:scale>
        <p:origin x="614" y="8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10640" y="3023616"/>
            <a:ext cx="14853920" cy="20482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00" b="0" i="0">
                <a:solidFill>
                  <a:srgbClr val="3D260A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621280" y="5462016"/>
            <a:ext cx="12232640" cy="2438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350" b="0" i="0">
                <a:solidFill>
                  <a:srgbClr val="242423"/>
                </a:solidFill>
                <a:latin typeface="Courier New"/>
                <a:cs typeface="Courier New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7/31/2026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7472139" cy="9735288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24902" y="7367084"/>
            <a:ext cx="6820480" cy="2368204"/>
          </a:xfrm>
          <a:prstGeom prst="rect">
            <a:avLst/>
          </a:prstGeom>
        </p:spPr>
      </p:pic>
      <p:sp>
        <p:nvSpPr>
          <p:cNvPr id="18" name="bg object 18"/>
          <p:cNvSpPr/>
          <p:nvPr/>
        </p:nvSpPr>
        <p:spPr>
          <a:xfrm>
            <a:off x="2860422" y="1085550"/>
            <a:ext cx="73660" cy="1473835"/>
          </a:xfrm>
          <a:custGeom>
            <a:avLst/>
            <a:gdLst/>
            <a:ahLst/>
            <a:cxnLst/>
            <a:rect l="l" t="t" r="r" b="b"/>
            <a:pathLst>
              <a:path w="73660" h="1473835">
                <a:moveTo>
                  <a:pt x="73207" y="1473749"/>
                </a:moveTo>
                <a:lnTo>
                  <a:pt x="0" y="1473749"/>
                </a:lnTo>
                <a:lnTo>
                  <a:pt x="0" y="0"/>
                </a:lnTo>
                <a:lnTo>
                  <a:pt x="73207" y="0"/>
                </a:lnTo>
                <a:lnTo>
                  <a:pt x="73207" y="1473749"/>
                </a:lnTo>
                <a:close/>
              </a:path>
            </a:pathLst>
          </a:custGeom>
          <a:solidFill>
            <a:srgbClr val="DBDBD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900" b="0" i="0">
                <a:solidFill>
                  <a:srgbClr val="3D260A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4350" b="0" i="0">
                <a:solidFill>
                  <a:srgbClr val="242423"/>
                </a:solidFill>
                <a:latin typeface="Courier New"/>
                <a:cs typeface="Courier New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7/31/2026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900" b="0" i="0">
                <a:solidFill>
                  <a:srgbClr val="3D260A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73760" y="2243328"/>
            <a:ext cx="7601712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8999728" y="2243328"/>
            <a:ext cx="7601712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7/31/2026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7472139" cy="889298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900" b="0" i="0">
                <a:solidFill>
                  <a:srgbClr val="3D260A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7/31/2026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7/31/2026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93807" y="9066958"/>
            <a:ext cx="16003905" cy="4679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00" b="0" i="0">
                <a:solidFill>
                  <a:srgbClr val="3D260A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05486" y="4695495"/>
            <a:ext cx="7080884" cy="24199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350" b="0" i="0">
                <a:solidFill>
                  <a:srgbClr val="242423"/>
                </a:solidFill>
                <a:latin typeface="Courier New"/>
                <a:cs typeface="Courier New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941568" y="9070848"/>
            <a:ext cx="5592064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873760" y="9070848"/>
            <a:ext cx="4019296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7/31/2026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2582144" y="9070848"/>
            <a:ext cx="4019296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753600"/>
            <a:chOff x="0" y="0"/>
            <a:chExt cx="17475200" cy="97536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7475200" cy="97536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951200" y="9372600"/>
              <a:ext cx="1524000" cy="3810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pc="-250" dirty="0"/>
              <a:t>Blind</a:t>
            </a:r>
            <a:r>
              <a:rPr spc="45" dirty="0"/>
              <a:t> </a:t>
            </a:r>
            <a:r>
              <a:rPr spc="-95" dirty="0"/>
              <a:t>students</a:t>
            </a:r>
            <a:r>
              <a:rPr spc="-75" dirty="0"/>
              <a:t> </a:t>
            </a:r>
            <a:r>
              <a:rPr spc="-155" dirty="0"/>
              <a:t>currently</a:t>
            </a:r>
            <a:r>
              <a:rPr spc="-155" dirty="0">
                <a:solidFill>
                  <a:srgbClr val="917023"/>
                </a:solidFill>
              </a:rPr>
              <a:t>·</a:t>
            </a:r>
            <a:r>
              <a:rPr spc="-155" dirty="0"/>
              <a:t>must</a:t>
            </a:r>
            <a:r>
              <a:rPr spc="-10" dirty="0"/>
              <a:t> </a:t>
            </a:r>
            <a:r>
              <a:rPr spc="-135" dirty="0"/>
              <a:t>c</a:t>
            </a:r>
            <a:r>
              <a:rPr spc="-130" dirty="0"/>
              <a:t>h</a:t>
            </a:r>
            <a:r>
              <a:rPr sz="525" spc="-202" baseline="71428" dirty="0">
                <a:solidFill>
                  <a:srgbClr val="9C834F"/>
                </a:solidFill>
              </a:rPr>
              <a:t>1</a:t>
            </a:r>
            <a:r>
              <a:rPr sz="2900" spc="-130" dirty="0"/>
              <a:t>oos</a:t>
            </a:r>
            <a:r>
              <a:rPr sz="2900" spc="-135" dirty="0"/>
              <a:t>e</a:t>
            </a:r>
            <a:r>
              <a:rPr sz="2900" spc="-254" dirty="0"/>
              <a:t> </a:t>
            </a:r>
            <a:r>
              <a:rPr sz="2900" spc="-170" dirty="0"/>
              <a:t>between</a:t>
            </a:r>
            <a:r>
              <a:rPr sz="2900" spc="-10" dirty="0"/>
              <a:t> </a:t>
            </a:r>
            <a:r>
              <a:rPr sz="2900" spc="-175" dirty="0"/>
              <a:t>academic</a:t>
            </a:r>
            <a:r>
              <a:rPr sz="2900" spc="-240" dirty="0"/>
              <a:t> </a:t>
            </a:r>
            <a:r>
              <a:rPr sz="2900" spc="-150" dirty="0">
                <a:solidFill>
                  <a:srgbClr val="BA9538"/>
                </a:solidFill>
              </a:rPr>
              <a:t>.</a:t>
            </a:r>
            <a:r>
              <a:rPr sz="2900" spc="-150" dirty="0"/>
              <a:t>independence</a:t>
            </a:r>
            <a:r>
              <a:rPr sz="2900" spc="-270" dirty="0"/>
              <a:t> </a:t>
            </a:r>
            <a:r>
              <a:rPr sz="2900" spc="-160" dirty="0"/>
              <a:t>and</a:t>
            </a:r>
            <a:r>
              <a:rPr sz="2900" spc="-65" dirty="0"/>
              <a:t> </a:t>
            </a:r>
            <a:r>
              <a:rPr sz="2900" spc="-105" dirty="0"/>
              <a:t>teacher</a:t>
            </a:r>
            <a:r>
              <a:rPr sz="2900" spc="-15" dirty="0"/>
              <a:t> </a:t>
            </a:r>
            <a:r>
              <a:rPr sz="2900" spc="-165" dirty="0"/>
              <a:t>r</a:t>
            </a:r>
            <a:r>
              <a:rPr sz="2900" spc="-160" dirty="0"/>
              <a:t>ea</a:t>
            </a:r>
            <a:r>
              <a:rPr sz="2900" spc="-165" dirty="0">
                <a:solidFill>
                  <a:srgbClr val="9C834F"/>
                </a:solidFill>
              </a:rPr>
              <a:t>,</a:t>
            </a:r>
            <a:r>
              <a:rPr sz="2900" spc="-160" dirty="0"/>
              <a:t>dab</a:t>
            </a:r>
            <a:r>
              <a:rPr sz="525" spc="-254" baseline="71428" dirty="0">
                <a:solidFill>
                  <a:srgbClr val="9C834F"/>
                </a:solidFill>
              </a:rPr>
              <a:t>1</a:t>
            </a:r>
            <a:r>
              <a:rPr sz="2750" spc="-165" dirty="0"/>
              <a:t>ilit</a:t>
            </a:r>
            <a:r>
              <a:rPr sz="2750" spc="-160" dirty="0"/>
              <a:t>y</a:t>
            </a:r>
            <a:r>
              <a:rPr sz="2750" spc="95" dirty="0"/>
              <a:t>.</a:t>
            </a:r>
            <a:r>
              <a:rPr sz="2900" spc="-180" dirty="0"/>
              <a:t>BrailleBridg</a:t>
            </a:r>
            <a:r>
              <a:rPr sz="2900" spc="-170" dirty="0"/>
              <a:t>e</a:t>
            </a:r>
            <a:r>
              <a:rPr sz="2900" spc="185" dirty="0"/>
              <a:t> </a:t>
            </a:r>
            <a:r>
              <a:rPr sz="2900" spc="-175" dirty="0"/>
              <a:t>delivers</a:t>
            </a:r>
            <a:r>
              <a:rPr sz="2900" spc="70" dirty="0"/>
              <a:t> </a:t>
            </a:r>
            <a:r>
              <a:rPr sz="2400" spc="50" dirty="0"/>
              <a:t>hnth</a:t>
            </a:r>
            <a:endParaRPr sz="2400"/>
          </a:p>
        </p:txBody>
      </p: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753600"/>
            <a:chOff x="0" y="0"/>
            <a:chExt cx="17475200" cy="97536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7475200" cy="97536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951200" y="9372600"/>
              <a:ext cx="1524000" cy="381000"/>
            </a:xfrm>
            <a:prstGeom prst="rect">
              <a:avLst/>
            </a:prstGeom>
          </p:spPr>
        </p:pic>
      </p:grpSp>
    </p:spTree>
  </p:cSld>
  <p:clrMapOvr>
    <a:masterClrMapping/>
  </p:clrMapOvr>
  <p:transition spd="slow">
    <p:cover dir="d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753600"/>
            <a:chOff x="0" y="0"/>
            <a:chExt cx="17475200" cy="97536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7475200" cy="97536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951200" y="9372600"/>
              <a:ext cx="1524000" cy="3810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753600"/>
            <a:chOff x="0" y="0"/>
            <a:chExt cx="17475200" cy="97536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7475200" cy="97536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951200" y="9372600"/>
              <a:ext cx="1524000" cy="381000"/>
            </a:xfrm>
            <a:prstGeom prst="rect">
              <a:avLst/>
            </a:prstGeom>
          </p:spPr>
        </p:pic>
      </p:grp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753600"/>
            <a:chOff x="0" y="0"/>
            <a:chExt cx="17475200" cy="97536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7475200" cy="97536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951200" y="9372600"/>
              <a:ext cx="1524000" cy="381000"/>
            </a:xfrm>
            <a:prstGeom prst="rect">
              <a:avLst/>
            </a:prstGeom>
          </p:spPr>
        </p:pic>
      </p:grpSp>
    </p:spTree>
  </p:cSld>
  <p:clrMapOvr>
    <a:masterClrMapping/>
  </p:clrMapOvr>
  <p:transition spd="slow">
    <p:comb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753600"/>
            <a:chOff x="0" y="0"/>
            <a:chExt cx="17475200" cy="97536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7475200" cy="97536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951200" y="9372600"/>
              <a:ext cx="1524000" cy="381000"/>
            </a:xfrm>
            <a:prstGeom prst="rect">
              <a:avLst/>
            </a:prstGeom>
          </p:spPr>
        </p:pic>
      </p:grpSp>
    </p:spTree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753600"/>
            <a:chOff x="0" y="0"/>
            <a:chExt cx="17475200" cy="97536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7475200" cy="97536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951200" y="9372600"/>
              <a:ext cx="1524000" cy="381000"/>
            </a:xfrm>
            <a:prstGeom prst="rect">
              <a:avLst/>
            </a:prstGeom>
          </p:spPr>
        </p:pic>
      </p:grpSp>
    </p:spTree>
  </p:cSld>
  <p:clrMapOvr>
    <a:masterClrMapping/>
  </p:clrMapOvr>
  <p:transition spd="slow">
    <p:wipe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753600"/>
            <a:chOff x="0" y="0"/>
            <a:chExt cx="17475200" cy="97536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7475200" cy="97536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951200" y="9372600"/>
              <a:ext cx="1524000" cy="381000"/>
            </a:xfrm>
            <a:prstGeom prst="rect">
              <a:avLst/>
            </a:prstGeom>
          </p:spPr>
        </p:pic>
      </p:grpSp>
    </p:spTree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753600"/>
            <a:chOff x="0" y="0"/>
            <a:chExt cx="17475200" cy="97536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7475200" cy="97536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951200" y="9372600"/>
              <a:ext cx="1524000" cy="3810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 invX="1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753600"/>
            <a:chOff x="0" y="0"/>
            <a:chExt cx="17475200" cy="97536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7475200" cy="97536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951200" y="9372600"/>
              <a:ext cx="1524000" cy="381000"/>
            </a:xfrm>
            <a:prstGeom prst="rect">
              <a:avLst/>
            </a:prstGeom>
          </p:spPr>
        </p:pic>
      </p:grpSp>
    </p:spTree>
  </p:cSld>
  <p:clrMapOvr>
    <a:masterClrMapping/>
  </p:clrMapOvr>
  <p:transition spd="slow">
    <p:strips dir="l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753600"/>
            <a:chOff x="0" y="0"/>
            <a:chExt cx="17475200" cy="97536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7475200" cy="97536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951200" y="9372600"/>
              <a:ext cx="1524000" cy="381000"/>
            </a:xfrm>
            <a:prstGeom prst="rect">
              <a:avLst/>
            </a:prstGeom>
          </p:spPr>
        </p:pic>
      </p:grpSp>
    </p:spTree>
  </p:cSld>
  <p:clrMapOvr>
    <a:masterClrMapping/>
  </p:clrMapOvr>
  <p:transition spd="slow">
    <p:strips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811381" y="1241608"/>
            <a:ext cx="5102225" cy="94106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6000" b="1" spc="-890" dirty="0">
                <a:solidFill>
                  <a:srgbClr val="131313"/>
                </a:solidFill>
                <a:latin typeface="Courier New"/>
                <a:cs typeface="Courier New"/>
              </a:rPr>
              <a:t>Bil</a:t>
            </a:r>
            <a:r>
              <a:rPr lang="en-US" sz="6000" b="1" spc="-890" dirty="0">
                <a:solidFill>
                  <a:srgbClr val="AEAEAE"/>
                </a:solidFill>
                <a:latin typeface="Courier New"/>
                <a:cs typeface="Courier New"/>
              </a:rPr>
              <a:t>-</a:t>
            </a:r>
            <a:r>
              <a:rPr sz="6000" b="1" spc="-2855" dirty="0">
                <a:solidFill>
                  <a:srgbClr val="AEAEAE"/>
                </a:solidFill>
                <a:latin typeface="Courier New"/>
                <a:cs typeface="Courier New"/>
              </a:rPr>
              <a:t> </a:t>
            </a:r>
            <a:r>
              <a:rPr sz="6000" b="1" spc="-1155" dirty="0">
                <a:solidFill>
                  <a:srgbClr val="131313"/>
                </a:solidFill>
                <a:latin typeface="Courier New"/>
                <a:cs typeface="Courier New"/>
              </a:rPr>
              <a:t>of</a:t>
            </a:r>
            <a:r>
              <a:rPr sz="6000" b="1" spc="-890" dirty="0">
                <a:solidFill>
                  <a:srgbClr val="131313"/>
                </a:solidFill>
                <a:latin typeface="Courier New"/>
                <a:cs typeface="Courier New"/>
              </a:rPr>
              <a:t> </a:t>
            </a:r>
            <a:r>
              <a:rPr sz="6000" b="1" spc="-1315" dirty="0">
                <a:solidFill>
                  <a:srgbClr val="131313"/>
                </a:solidFill>
                <a:latin typeface="Courier New"/>
                <a:cs typeface="Courier New"/>
              </a:rPr>
              <a:t>Materials</a:t>
            </a:r>
            <a:endParaRPr sz="6000" dirty="0">
              <a:latin typeface="Courier New"/>
              <a:cs typeface="Courier New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41249" y="2701137"/>
            <a:ext cx="607695" cy="946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" dirty="0">
                <a:solidFill>
                  <a:srgbClr val="9C9C9E"/>
                </a:solidFill>
                <a:latin typeface="Arial"/>
                <a:cs typeface="Arial"/>
              </a:rPr>
              <a:t>l</a:t>
            </a:r>
            <a:r>
              <a:rPr sz="300" dirty="0">
                <a:solidFill>
                  <a:srgbClr val="242423"/>
                </a:solidFill>
                <a:latin typeface="Arial"/>
                <a:cs typeface="Arial"/>
              </a:rPr>
              <a:t>llliiiiill</a:t>
            </a:r>
            <a:r>
              <a:rPr sz="300" spc="420" dirty="0">
                <a:solidFill>
                  <a:srgbClr val="242423"/>
                </a:solidFill>
                <a:latin typeface="Arial"/>
                <a:cs typeface="Arial"/>
              </a:rPr>
              <a:t>  </a:t>
            </a:r>
            <a:r>
              <a:rPr sz="450" dirty="0">
                <a:solidFill>
                  <a:srgbClr val="131313"/>
                </a:solidFill>
                <a:latin typeface="Arial"/>
                <a:cs typeface="Arial"/>
              </a:rPr>
              <a:t>iiiiiiii</a:t>
            </a:r>
            <a:r>
              <a:rPr sz="450" spc="470" dirty="0">
                <a:solidFill>
                  <a:srgbClr val="131313"/>
                </a:solidFill>
                <a:latin typeface="Arial"/>
                <a:cs typeface="Arial"/>
              </a:rPr>
              <a:t> </a:t>
            </a:r>
            <a:r>
              <a:rPr sz="450" spc="-35" dirty="0">
                <a:solidFill>
                  <a:srgbClr val="242423"/>
                </a:solidFill>
                <a:latin typeface="Arial"/>
                <a:cs typeface="Arial"/>
              </a:rPr>
              <a:t>llllliiiiiiiiil</a:t>
            </a:r>
            <a:r>
              <a:rPr sz="450" spc="130" dirty="0">
                <a:solidFill>
                  <a:srgbClr val="242423"/>
                </a:solidFill>
                <a:latin typeface="Arial"/>
                <a:cs typeface="Arial"/>
              </a:rPr>
              <a:t> </a:t>
            </a:r>
            <a:r>
              <a:rPr sz="450" spc="-50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endParaRPr sz="45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628227" y="2720211"/>
            <a:ext cx="59690" cy="71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" spc="-25" dirty="0">
                <a:solidFill>
                  <a:srgbClr val="9C9C9E"/>
                </a:solidFill>
                <a:latin typeface="Arial"/>
                <a:cs typeface="Arial"/>
              </a:rPr>
              <a:t>I</a:t>
            </a:r>
            <a:r>
              <a:rPr sz="300" spc="-25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endParaRPr sz="3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816851" y="2720211"/>
            <a:ext cx="43815" cy="71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" spc="-50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endParaRPr sz="3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005969" y="2720211"/>
            <a:ext cx="43815" cy="71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" spc="-50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endParaRPr sz="3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210341" y="2720211"/>
            <a:ext cx="43815" cy="71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" spc="-50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endParaRPr sz="3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402509" y="2720211"/>
            <a:ext cx="43815" cy="71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" spc="-50" dirty="0">
                <a:solidFill>
                  <a:srgbClr val="242423"/>
                </a:solidFill>
                <a:latin typeface="Arial"/>
                <a:cs typeface="Arial"/>
              </a:rPr>
              <a:t>-</a:t>
            </a:r>
            <a:endParaRPr sz="3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603830" y="2720211"/>
            <a:ext cx="43815" cy="71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" spc="-50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endParaRPr sz="3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811745" y="2720211"/>
            <a:ext cx="229870" cy="71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98120" algn="l"/>
              </a:tabLst>
            </a:pPr>
            <a:r>
              <a:rPr sz="300" spc="-25" dirty="0">
                <a:solidFill>
                  <a:srgbClr val="9C9C9E"/>
                </a:solidFill>
                <a:latin typeface="Arial"/>
                <a:cs typeface="Arial"/>
              </a:rPr>
              <a:t>I</a:t>
            </a:r>
            <a:r>
              <a:rPr sz="300" spc="-25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r>
              <a:rPr sz="300" dirty="0">
                <a:solidFill>
                  <a:srgbClr val="131313"/>
                </a:solidFill>
                <a:latin typeface="Arial"/>
                <a:cs typeface="Arial"/>
              </a:rPr>
              <a:t>	</a:t>
            </a:r>
            <a:r>
              <a:rPr sz="300" spc="-50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endParaRPr sz="3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189488" y="2720211"/>
            <a:ext cx="43815" cy="71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" spc="-50" dirty="0">
                <a:solidFill>
                  <a:srgbClr val="242423"/>
                </a:solidFill>
                <a:latin typeface="Arial"/>
                <a:cs typeface="Arial"/>
              </a:rPr>
              <a:t>-</a:t>
            </a:r>
            <a:endParaRPr sz="3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393857" y="2720211"/>
            <a:ext cx="43815" cy="71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" spc="-50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endParaRPr sz="3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598724" y="2720211"/>
            <a:ext cx="59690" cy="71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" spc="-25" dirty="0">
                <a:solidFill>
                  <a:srgbClr val="9C9C9E"/>
                </a:solidFill>
                <a:latin typeface="Arial"/>
                <a:cs typeface="Arial"/>
              </a:rPr>
              <a:t>I</a:t>
            </a:r>
            <a:r>
              <a:rPr sz="300" spc="-25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endParaRPr sz="3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787347" y="2720211"/>
            <a:ext cx="43815" cy="71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" spc="-50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endParaRPr sz="3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976466" y="2720211"/>
            <a:ext cx="43815" cy="71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" spc="-50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endParaRPr sz="3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180837" y="2720211"/>
            <a:ext cx="43815" cy="71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" spc="-50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endParaRPr sz="3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388753" y="2720211"/>
            <a:ext cx="59690" cy="71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" spc="-25" dirty="0">
                <a:solidFill>
                  <a:srgbClr val="828082"/>
                </a:solidFill>
                <a:latin typeface="Arial"/>
                <a:cs typeface="Arial"/>
              </a:rPr>
              <a:t>I</a:t>
            </a:r>
            <a:r>
              <a:rPr sz="300" spc="-25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endParaRPr sz="3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574326" y="2720211"/>
            <a:ext cx="43815" cy="71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" spc="-50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endParaRPr sz="3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4766495" y="2720211"/>
            <a:ext cx="43815" cy="71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" spc="-50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endParaRPr sz="30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967815" y="2720211"/>
            <a:ext cx="1035685" cy="71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16535" algn="l"/>
                <a:tab pos="408940" algn="l"/>
                <a:tab pos="598170" algn="l"/>
                <a:tab pos="802640" algn="l"/>
                <a:tab pos="1003935" algn="l"/>
              </a:tabLst>
            </a:pPr>
            <a:r>
              <a:rPr sz="300" spc="-50" dirty="0">
                <a:solidFill>
                  <a:srgbClr val="242423"/>
                </a:solidFill>
                <a:latin typeface="Arial"/>
                <a:cs typeface="Arial"/>
              </a:rPr>
              <a:t>-</a:t>
            </a:r>
            <a:r>
              <a:rPr sz="300" dirty="0">
                <a:solidFill>
                  <a:srgbClr val="242423"/>
                </a:solidFill>
                <a:latin typeface="Arial"/>
                <a:cs typeface="Arial"/>
              </a:rPr>
              <a:t>	</a:t>
            </a:r>
            <a:r>
              <a:rPr sz="300" spc="-50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r>
              <a:rPr sz="300" dirty="0">
                <a:solidFill>
                  <a:srgbClr val="131313"/>
                </a:solidFill>
                <a:latin typeface="Arial"/>
                <a:cs typeface="Arial"/>
              </a:rPr>
              <a:t>	</a:t>
            </a:r>
            <a:r>
              <a:rPr sz="300" spc="-50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r>
              <a:rPr sz="300" dirty="0">
                <a:solidFill>
                  <a:srgbClr val="131313"/>
                </a:solidFill>
                <a:latin typeface="Arial"/>
                <a:cs typeface="Arial"/>
              </a:rPr>
              <a:t>	</a:t>
            </a:r>
            <a:r>
              <a:rPr sz="300" spc="-50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r>
              <a:rPr sz="300" dirty="0">
                <a:solidFill>
                  <a:srgbClr val="131313"/>
                </a:solidFill>
                <a:latin typeface="Arial"/>
                <a:cs typeface="Arial"/>
              </a:rPr>
              <a:t>	</a:t>
            </a:r>
            <a:r>
              <a:rPr sz="300" spc="-50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r>
              <a:rPr sz="300" dirty="0">
                <a:solidFill>
                  <a:srgbClr val="131313"/>
                </a:solidFill>
                <a:latin typeface="Arial"/>
                <a:cs typeface="Arial"/>
              </a:rPr>
              <a:t>	</a:t>
            </a:r>
            <a:r>
              <a:rPr sz="300" spc="-50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endParaRPr sz="3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151333" y="2701137"/>
            <a:ext cx="1609090" cy="946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41300" algn="l"/>
                <a:tab pos="823594" algn="l"/>
                <a:tab pos="1383030" algn="l"/>
                <a:tab pos="1575435" algn="l"/>
              </a:tabLst>
            </a:pPr>
            <a:r>
              <a:rPr sz="300" spc="-50" dirty="0">
                <a:solidFill>
                  <a:srgbClr val="242423"/>
                </a:solidFill>
                <a:latin typeface="Arial"/>
                <a:cs typeface="Arial"/>
              </a:rPr>
              <a:t>-</a:t>
            </a:r>
            <a:r>
              <a:rPr sz="300" dirty="0">
                <a:solidFill>
                  <a:srgbClr val="242423"/>
                </a:solidFill>
                <a:latin typeface="Arial"/>
                <a:cs typeface="Arial"/>
              </a:rPr>
              <a:t>	</a:t>
            </a:r>
            <a:r>
              <a:rPr sz="450" dirty="0">
                <a:solidFill>
                  <a:srgbClr val="131313"/>
                </a:solidFill>
                <a:latin typeface="Arial"/>
                <a:cs typeface="Arial"/>
              </a:rPr>
              <a:t>llliiiiil</a:t>
            </a:r>
            <a:r>
              <a:rPr sz="450" spc="75" dirty="0">
                <a:solidFill>
                  <a:srgbClr val="131313"/>
                </a:solidFill>
                <a:latin typeface="Arial"/>
                <a:cs typeface="Arial"/>
              </a:rPr>
              <a:t> </a:t>
            </a:r>
            <a:r>
              <a:rPr sz="450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r>
              <a:rPr sz="450" u="heavy" spc="385" dirty="0">
                <a:solidFill>
                  <a:srgbClr val="131313"/>
                </a:solidFill>
                <a:uFill>
                  <a:solidFill>
                    <a:srgbClr val="131313"/>
                  </a:solidFill>
                </a:uFill>
                <a:latin typeface="Arial"/>
                <a:cs typeface="Arial"/>
              </a:rPr>
              <a:t>  </a:t>
            </a:r>
            <a:r>
              <a:rPr sz="450" u="none" spc="335" dirty="0">
                <a:solidFill>
                  <a:srgbClr val="131313"/>
                </a:solidFill>
                <a:latin typeface="Arial"/>
                <a:cs typeface="Arial"/>
              </a:rPr>
              <a:t> </a:t>
            </a:r>
            <a:r>
              <a:rPr sz="450" u="none" spc="-50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r>
              <a:rPr sz="450" u="none" dirty="0">
                <a:solidFill>
                  <a:srgbClr val="131313"/>
                </a:solidFill>
                <a:latin typeface="Arial"/>
                <a:cs typeface="Arial"/>
              </a:rPr>
              <a:t>	</a:t>
            </a:r>
            <a:r>
              <a:rPr sz="450" u="none" dirty="0">
                <a:solidFill>
                  <a:srgbClr val="242423"/>
                </a:solidFill>
                <a:latin typeface="Arial"/>
                <a:cs typeface="Arial"/>
              </a:rPr>
              <a:t>liiiiiiill</a:t>
            </a:r>
            <a:r>
              <a:rPr sz="450" u="none" spc="70" dirty="0">
                <a:solidFill>
                  <a:srgbClr val="242423"/>
                </a:solidFill>
                <a:latin typeface="Arial"/>
                <a:cs typeface="Arial"/>
              </a:rPr>
              <a:t> </a:t>
            </a:r>
            <a:r>
              <a:rPr sz="450" u="none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r>
              <a:rPr sz="450" u="heavy" spc="330" dirty="0">
                <a:solidFill>
                  <a:srgbClr val="131313"/>
                </a:solidFill>
                <a:uFill>
                  <a:solidFill>
                    <a:srgbClr val="131313"/>
                  </a:solidFill>
                </a:uFill>
                <a:latin typeface="Arial"/>
                <a:cs typeface="Arial"/>
              </a:rPr>
              <a:t>  </a:t>
            </a:r>
            <a:r>
              <a:rPr sz="450" u="none" spc="340" dirty="0">
                <a:solidFill>
                  <a:srgbClr val="131313"/>
                </a:solidFill>
                <a:latin typeface="Arial"/>
                <a:cs typeface="Arial"/>
              </a:rPr>
              <a:t> </a:t>
            </a:r>
            <a:r>
              <a:rPr sz="450" u="none" spc="-50" dirty="0">
                <a:solidFill>
                  <a:srgbClr val="242423"/>
                </a:solidFill>
                <a:latin typeface="Arial"/>
                <a:cs typeface="Arial"/>
              </a:rPr>
              <a:t>-</a:t>
            </a:r>
            <a:r>
              <a:rPr sz="450" u="none" dirty="0">
                <a:solidFill>
                  <a:srgbClr val="242423"/>
                </a:solidFill>
                <a:latin typeface="Arial"/>
                <a:cs typeface="Arial"/>
              </a:rPr>
              <a:t>	</a:t>
            </a:r>
            <a:r>
              <a:rPr sz="450" u="none" spc="-50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r>
              <a:rPr sz="450" u="none" dirty="0">
                <a:solidFill>
                  <a:srgbClr val="131313"/>
                </a:solidFill>
                <a:latin typeface="Arial"/>
                <a:cs typeface="Arial"/>
              </a:rPr>
              <a:t>	</a:t>
            </a:r>
            <a:r>
              <a:rPr sz="450" u="none" spc="-50" dirty="0">
                <a:solidFill>
                  <a:srgbClr val="131313"/>
                </a:solidFill>
                <a:latin typeface="Arial"/>
                <a:cs typeface="Arial"/>
              </a:rPr>
              <a:t>-</a:t>
            </a:r>
            <a:endParaRPr sz="450">
              <a:latin typeface="Arial"/>
              <a:cs typeface="Arial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3700629" y="2917376"/>
            <a:ext cx="40005" cy="941069"/>
          </a:xfrm>
          <a:custGeom>
            <a:avLst/>
            <a:gdLst/>
            <a:ahLst/>
            <a:cxnLst/>
            <a:rect l="l" t="t" r="r" b="b"/>
            <a:pathLst>
              <a:path w="40004" h="941070">
                <a:moveTo>
                  <a:pt x="39653" y="940717"/>
                </a:moveTo>
                <a:lnTo>
                  <a:pt x="0" y="940717"/>
                </a:lnTo>
                <a:lnTo>
                  <a:pt x="0" y="0"/>
                </a:lnTo>
                <a:lnTo>
                  <a:pt x="39653" y="0"/>
                </a:lnTo>
                <a:lnTo>
                  <a:pt x="39653" y="940717"/>
                </a:lnTo>
                <a:close/>
              </a:path>
            </a:pathLst>
          </a:custGeom>
          <a:solidFill>
            <a:srgbClr val="DBDBD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1020399" y="2916289"/>
            <a:ext cx="4238804" cy="68287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4350" spc="-944" dirty="0">
                <a:solidFill>
                  <a:srgbClr val="242423"/>
                </a:solidFill>
                <a:latin typeface="Courier New"/>
                <a:cs typeface="Courier New"/>
              </a:rPr>
              <a:t>ESP 32-Dev Module</a:t>
            </a:r>
            <a:endParaRPr sz="4350" dirty="0">
              <a:latin typeface="Courier New"/>
              <a:cs typeface="Courier New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13188" y="3810470"/>
            <a:ext cx="2999105" cy="6896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350" spc="-1000" dirty="0">
                <a:solidFill>
                  <a:srgbClr val="242423"/>
                </a:solidFill>
                <a:latin typeface="Courier New"/>
                <a:cs typeface="Courier New"/>
              </a:rPr>
              <a:t>Otemu</a:t>
            </a:r>
            <a:r>
              <a:rPr sz="4350" spc="-790" dirty="0">
                <a:solidFill>
                  <a:srgbClr val="242423"/>
                </a:solidFill>
                <a:latin typeface="Courier New"/>
                <a:cs typeface="Courier New"/>
              </a:rPr>
              <a:t> </a:t>
            </a:r>
            <a:r>
              <a:rPr sz="4350" spc="-985" dirty="0">
                <a:solidFill>
                  <a:srgbClr val="242423"/>
                </a:solidFill>
                <a:latin typeface="Courier New"/>
                <a:cs typeface="Courier New"/>
              </a:rPr>
              <a:t>Switches</a:t>
            </a:r>
            <a:endParaRPr sz="4350">
              <a:latin typeface="Courier New"/>
              <a:cs typeface="Courier New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4976778" y="2540697"/>
            <a:ext cx="3031490" cy="1814195"/>
          </a:xfrm>
          <a:prstGeom prst="rect">
            <a:avLst/>
          </a:prstGeom>
        </p:spPr>
        <p:txBody>
          <a:bodyPr vert="horz" wrap="square" lIns="0" tIns="243840" rIns="0" bIns="0" rtlCol="0">
            <a:spAutoFit/>
          </a:bodyPr>
          <a:lstStyle/>
          <a:p>
            <a:pPr marL="427990" indent="-415290">
              <a:lnSpc>
                <a:spcPct val="100000"/>
              </a:lnSpc>
              <a:spcBef>
                <a:spcPts val="1920"/>
              </a:spcBef>
              <a:buChar char="-"/>
              <a:tabLst>
                <a:tab pos="427990" algn="l"/>
              </a:tabLst>
            </a:pPr>
            <a:r>
              <a:rPr sz="4350" spc="-605" dirty="0">
                <a:solidFill>
                  <a:srgbClr val="242423"/>
                </a:solidFill>
                <a:latin typeface="Courier New"/>
                <a:cs typeface="Courier New"/>
              </a:rPr>
              <a:t>5</a:t>
            </a:r>
            <a:r>
              <a:rPr sz="4350" spc="-1000" dirty="0">
                <a:solidFill>
                  <a:srgbClr val="242423"/>
                </a:solidFill>
                <a:latin typeface="Courier New"/>
                <a:cs typeface="Courier New"/>
              </a:rPr>
              <a:t> </a:t>
            </a:r>
            <a:r>
              <a:rPr sz="4350" spc="-944" dirty="0">
                <a:solidFill>
                  <a:srgbClr val="242423"/>
                </a:solidFill>
                <a:latin typeface="Courier New"/>
                <a:cs typeface="Courier New"/>
              </a:rPr>
              <a:t>US</a:t>
            </a:r>
            <a:r>
              <a:rPr sz="4350" spc="-1170" dirty="0">
                <a:solidFill>
                  <a:srgbClr val="242423"/>
                </a:solidFill>
                <a:latin typeface="Courier New"/>
                <a:cs typeface="Courier New"/>
              </a:rPr>
              <a:t> </a:t>
            </a:r>
            <a:r>
              <a:rPr sz="4350" spc="-919" dirty="0">
                <a:solidFill>
                  <a:srgbClr val="242423"/>
                </a:solidFill>
                <a:latin typeface="Courier New"/>
                <a:cs typeface="Courier New"/>
              </a:rPr>
              <a:t>Dol</a:t>
            </a:r>
            <a:r>
              <a:rPr sz="4350" spc="-1040" dirty="0">
                <a:solidFill>
                  <a:srgbClr val="242423"/>
                </a:solidFill>
                <a:latin typeface="Courier New"/>
                <a:cs typeface="Courier New"/>
              </a:rPr>
              <a:t> </a:t>
            </a:r>
            <a:r>
              <a:rPr sz="4350" spc="-944" dirty="0">
                <a:solidFill>
                  <a:srgbClr val="242423"/>
                </a:solidFill>
                <a:latin typeface="Courier New"/>
                <a:cs typeface="Courier New"/>
              </a:rPr>
              <a:t>ars</a:t>
            </a:r>
            <a:endParaRPr sz="4350" dirty="0">
              <a:latin typeface="Courier New"/>
              <a:cs typeface="Courier New"/>
            </a:endParaRPr>
          </a:p>
          <a:p>
            <a:pPr marL="440690" indent="-427990">
              <a:lnSpc>
                <a:spcPct val="100000"/>
              </a:lnSpc>
              <a:spcBef>
                <a:spcPts val="1820"/>
              </a:spcBef>
              <a:buChar char="-"/>
              <a:tabLst>
                <a:tab pos="440690" algn="l"/>
              </a:tabLst>
            </a:pPr>
            <a:r>
              <a:rPr sz="4350" spc="-735" dirty="0">
                <a:solidFill>
                  <a:srgbClr val="242423"/>
                </a:solidFill>
                <a:latin typeface="Courier New"/>
                <a:cs typeface="Courier New"/>
              </a:rPr>
              <a:t>3</a:t>
            </a:r>
            <a:r>
              <a:rPr sz="4350" spc="-969" dirty="0">
                <a:solidFill>
                  <a:srgbClr val="242423"/>
                </a:solidFill>
                <a:latin typeface="Courier New"/>
                <a:cs typeface="Courier New"/>
              </a:rPr>
              <a:t> </a:t>
            </a:r>
            <a:r>
              <a:rPr sz="4350" spc="-944" dirty="0">
                <a:solidFill>
                  <a:srgbClr val="242423"/>
                </a:solidFill>
                <a:latin typeface="Courier New"/>
                <a:cs typeface="Courier New"/>
              </a:rPr>
              <a:t>US</a:t>
            </a:r>
            <a:r>
              <a:rPr sz="4350" spc="-1165" dirty="0">
                <a:solidFill>
                  <a:srgbClr val="242423"/>
                </a:solidFill>
                <a:latin typeface="Courier New"/>
                <a:cs typeface="Courier New"/>
              </a:rPr>
              <a:t> </a:t>
            </a:r>
            <a:r>
              <a:rPr sz="4350" spc="-985" dirty="0">
                <a:solidFill>
                  <a:srgbClr val="242423"/>
                </a:solidFill>
                <a:latin typeface="Courier New"/>
                <a:cs typeface="Courier New"/>
              </a:rPr>
              <a:t>Dollars</a:t>
            </a:r>
            <a:endParaRPr sz="4350" dirty="0">
              <a:latin typeface="Courier New"/>
              <a:cs typeface="Courier New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975" dirty="0"/>
              <a:t>Perfboard,</a:t>
            </a:r>
            <a:r>
              <a:rPr spc="-725" dirty="0"/>
              <a:t> </a:t>
            </a:r>
            <a:r>
              <a:rPr spc="-919" dirty="0"/>
              <a:t>PLA,</a:t>
            </a:r>
            <a:r>
              <a:rPr spc="-985" dirty="0"/>
              <a:t> </a:t>
            </a:r>
            <a:r>
              <a:rPr spc="-944" dirty="0"/>
              <a:t>Wires</a:t>
            </a:r>
            <a:r>
              <a:rPr spc="-985" dirty="0"/>
              <a:t> </a:t>
            </a:r>
            <a:r>
              <a:rPr spc="-944" dirty="0"/>
              <a:t>-</a:t>
            </a:r>
            <a:r>
              <a:rPr spc="-1005" dirty="0"/>
              <a:t> </a:t>
            </a:r>
            <a:r>
              <a:rPr spc="-605" dirty="0"/>
              <a:t>3</a:t>
            </a:r>
            <a:r>
              <a:rPr spc="-1295" dirty="0"/>
              <a:t> </a:t>
            </a:r>
            <a:r>
              <a:rPr spc="-985" dirty="0"/>
              <a:t>Dollars</a:t>
            </a:r>
          </a:p>
          <a:p>
            <a:pPr>
              <a:lnSpc>
                <a:spcPct val="100000"/>
              </a:lnSpc>
              <a:spcBef>
                <a:spcPts val="3475"/>
              </a:spcBef>
            </a:pPr>
            <a:endParaRPr spc="-985" dirty="0"/>
          </a:p>
          <a:p>
            <a:pPr marL="26034">
              <a:lnSpc>
                <a:spcPct val="100000"/>
              </a:lnSpc>
            </a:pPr>
            <a:r>
              <a:rPr b="1" spc="-894" dirty="0">
                <a:solidFill>
                  <a:srgbClr val="131313"/>
                </a:solidFill>
                <a:latin typeface="Courier New"/>
                <a:cs typeface="Courier New"/>
              </a:rPr>
              <a:t>Total</a:t>
            </a:r>
            <a:r>
              <a:rPr b="1" spc="-440" dirty="0">
                <a:solidFill>
                  <a:srgbClr val="131313"/>
                </a:solidFill>
                <a:latin typeface="Courier New"/>
                <a:cs typeface="Courier New"/>
              </a:rPr>
              <a:t> </a:t>
            </a:r>
            <a:r>
              <a:rPr b="1" spc="-944" dirty="0">
                <a:solidFill>
                  <a:srgbClr val="131313"/>
                </a:solidFill>
                <a:latin typeface="Courier New"/>
                <a:cs typeface="Courier New"/>
              </a:rPr>
              <a:t>Raw</a:t>
            </a:r>
            <a:r>
              <a:rPr b="1" spc="-660" dirty="0">
                <a:solidFill>
                  <a:srgbClr val="131313"/>
                </a:solidFill>
                <a:latin typeface="Courier New"/>
                <a:cs typeface="Courier New"/>
              </a:rPr>
              <a:t> </a:t>
            </a:r>
            <a:r>
              <a:rPr b="1" spc="-919" dirty="0">
                <a:solidFill>
                  <a:srgbClr val="131313"/>
                </a:solidFill>
                <a:latin typeface="Courier New"/>
                <a:cs typeface="Courier New"/>
              </a:rPr>
              <a:t>Cost</a:t>
            </a:r>
            <a:r>
              <a:rPr b="1" spc="-1175" dirty="0">
                <a:solidFill>
                  <a:srgbClr val="131313"/>
                </a:solidFill>
                <a:latin typeface="Courier New"/>
                <a:cs typeface="Courier New"/>
              </a:rPr>
              <a:t> </a:t>
            </a:r>
            <a:r>
              <a:rPr b="1" spc="-1025" dirty="0">
                <a:latin typeface="Courier New"/>
                <a:cs typeface="Courier New"/>
              </a:rPr>
              <a:t>.........</a:t>
            </a:r>
            <a:r>
              <a:rPr b="1" spc="-455" dirty="0">
                <a:latin typeface="Courier New"/>
                <a:cs typeface="Courier New"/>
              </a:rPr>
              <a:t> </a:t>
            </a:r>
            <a:r>
              <a:rPr b="1" spc="-869" dirty="0">
                <a:solidFill>
                  <a:srgbClr val="131313"/>
                </a:solidFill>
                <a:latin typeface="Courier New"/>
                <a:cs typeface="Courier New"/>
              </a:rPr>
              <a:t>-</a:t>
            </a:r>
            <a:r>
              <a:rPr b="1" spc="-880" dirty="0">
                <a:solidFill>
                  <a:srgbClr val="131313"/>
                </a:solidFill>
                <a:latin typeface="Courier New"/>
                <a:cs typeface="Courier New"/>
              </a:rPr>
              <a:t>$11.00</a:t>
            </a:r>
          </a:p>
        </p:txBody>
      </p:sp>
    </p:spTree>
  </p:cSld>
  <p:clrMapOvr>
    <a:masterClrMapping/>
  </p:clrMapOvr>
  <p:transition spd="slow">
    <p:cover dir="r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460</TotalTime>
  <Words>95</Words>
  <Application>Microsoft Office PowerPoint</Application>
  <PresentationFormat>Custom</PresentationFormat>
  <Paragraphs>28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Courier New</vt:lpstr>
      <vt:lpstr>Times New Roman</vt:lpstr>
      <vt:lpstr>Office Theme</vt:lpstr>
      <vt:lpstr>PowerPoint Presentation</vt:lpstr>
      <vt:lpstr>Blind students currently·must ch1oose between academic .independence and teacher rea,dab1ility.BrailleBridge delivers hnth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Bil- of Materials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Samin Yeasar</dc:creator>
  <cp:lastModifiedBy>Power User</cp:lastModifiedBy>
  <cp:revision>1</cp:revision>
  <dcterms:created xsi:type="dcterms:W3CDTF">2026-07-30T11:54:27Z</dcterms:created>
  <dcterms:modified xsi:type="dcterms:W3CDTF">2026-07-31T19:42:57Z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2026-07-30T12:02:20Z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b02c31a8-0e12-4553-91e9-7eb2e400e662</vt:lpwstr>
  </property>
  <property fmtid="{D5CDD505-2E9C-101B-9397-08002B2CF9AE}" pid="7" name="MSIP_Label_defa4170-0d19-0005-0004-bc88714345d2_ActionId">
    <vt:lpwstr>fe728821-8740-433f-9a76-bd00f64ff598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
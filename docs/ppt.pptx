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FB6B5"/>
    <a:srgbClr val="CDC5C0"/>
    <a:srgbClr val="5C94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66" d="100"/>
          <a:sy n="66" d="100"/>
        </p:scale>
        <p:origin x="1330" y="4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5A1333-487A-4F97-8071-8E277178E7BB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94BE89-D012-4A67-83D4-3D63126193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2337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94BE89-D012-4A67-83D4-3D631261932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70035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08D12D-9BE9-39DE-3771-15A2EDBC54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9B6BF5-4CF4-AC39-1E04-47BBEFD845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BBBA2A-E058-51D5-4EB5-FDCD25D8F0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C4D42-9317-4349-AC75-E24A1F22A0E8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617CF4-C524-9797-C5B1-1A8AFCCFD5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6571E1-A82E-4E1E-C868-860C9BF4C5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090B4-E338-402E-8246-61F0247AD1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1196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E0AC5-31C3-A10E-5FE7-3FBBD855B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0119F9-E28B-A77F-A5CA-83DD59768C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A1832B-7682-7653-4EDF-D3D87EF1C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C4D42-9317-4349-AC75-E24A1F22A0E8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55C612-1070-61B1-8585-EC90CCA119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520CD-ED2F-4E3A-E5F4-C45DDB983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090B4-E338-402E-8246-61F0247AD1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51437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B11540-25F5-FBF4-5418-612464F55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799DE9-E1E1-106E-0532-6B26384315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3877FA-15E1-2A0D-88BF-AAFCEBDBC3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C4D42-9317-4349-AC75-E24A1F22A0E8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D643B0-FB55-DA95-8E88-A290707AFE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32C9F5-326C-D5EB-D482-D6F2C3F1E3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090B4-E338-402E-8246-61F0247AD1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82772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40C2F-665E-7688-C9BC-67F91AF7A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26B25F-EBEF-F6E4-7EF4-86C76389E2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78AAF2-E8C1-A93B-61F8-A5BED9C8D1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19DFAC-9E96-2B1D-F936-05A4612F84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C4D42-9317-4349-AC75-E24A1F22A0E8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086788-6FD6-191F-755B-82D319451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4FF7E0-949D-8E71-A585-CA4A9DC635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090B4-E338-402E-8246-61F0247AD1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6506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875190-6A40-A32E-2D26-FE7DAEF1E6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39C5AC-D1F5-4397-E64C-CD0F631E87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45E8FC-2E14-C8C4-6254-F6E424AF8A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0F2C76C-09BD-9DB8-18B1-F2753FAA1F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B8CA91-AFDC-949F-2372-E8DD2C0EB4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E747960-C35E-5EC8-9AED-7D5BE4DE9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C4D42-9317-4349-AC75-E24A1F22A0E8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3B8201F-309A-2153-EBCD-40DD6229A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0A934A5-95C3-B721-9AFB-AE7CA86AC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090B4-E338-402E-8246-61F0247AD1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8534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46FCC7-7FCA-7565-21BE-10AA5CF111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4D9540-6D04-3BAD-727D-063A823A70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C4D42-9317-4349-AC75-E24A1F22A0E8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1C7887-66E2-0687-CE0B-B4084ABA3E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26ECDD-B341-75E4-140C-3E5B317AF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090B4-E338-402E-8246-61F0247AD1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79590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E8A9E8E-5FC7-ACDF-1B04-B33B597176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C4D42-9317-4349-AC75-E24A1F22A0E8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D7630F-7EA6-A609-CE5D-5280150144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69EEBD-F817-31BC-786B-088753A05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090B4-E338-402E-8246-61F0247AD1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096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73316E-21AB-D33F-4B0F-CBCD10D2D0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1AA5F2-D89D-CED0-E096-4E02F76332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9A82AA-7151-97D6-36E3-479B831CA0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7C1052-6CBC-D655-D522-117AAFC711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C4D42-9317-4349-AC75-E24A1F22A0E8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C33AF5-3955-2C7E-CABD-C81AC43BED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9BEEB2-A36E-25BA-EF7C-AF3C54E57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090B4-E338-402E-8246-61F0247AD1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3510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BF417B-0BF2-5FE3-E9D5-3A48A4EE63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D279696-DEF6-ADBA-5C93-20EEBDB3F1F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E55AD5-9552-AF9B-D4EE-E24C1070C1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46C2FE-F3AB-D2F0-5EBE-4D98A7727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C4D42-9317-4349-AC75-E24A1F22A0E8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E65159-FA0B-6F5A-1A12-B848D58242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7CA937-9579-10CF-F4AD-4DB901377E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090B4-E338-402E-8246-61F0247AD1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5122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FCCC6A-68AB-2D19-7A0C-E6EB707486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2DEAD7-B240-F7FC-D6DD-08341A9F11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BFA708-012B-51CE-DE21-974A3A8F7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C4D42-9317-4349-AC75-E24A1F22A0E8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A4B7D3-150D-23C0-3C6C-DC58903D1E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401852-00FD-B8A7-7522-CDF0EE90E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090B4-E338-402E-8246-61F0247AD1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0223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E9D4938-3A54-1210-A70B-D28A6D9063C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E145BF-42C8-4E44-4D24-9917368866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A708B0-F068-D9C2-D6C0-DD6E0DB769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C4D42-9317-4349-AC75-E24A1F22A0E8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E82E43-CF07-418A-857D-3FD27C5E8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7A10AE-C8D2-990F-AE68-D7EE2B8E7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090B4-E338-402E-8246-61F0247AD1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185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54A8C26-B009-F59A-F77C-E7036F45A2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A111FE-17E0-649D-236B-D6EF8ECA3B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751D32-77BE-296F-5B20-AF0EA57938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EBC4D42-9317-4349-AC75-E24A1F22A0E8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21E81F-B10F-E7DF-32C0-6E3A268EE7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4BAC95-D79A-59D1-3D08-38F81FCE89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9090B4-E338-402E-8246-61F0247AD1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8014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1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73ACE5A-9FC2-ABA3-A159-D0B5A761A3A5}"/>
              </a:ext>
            </a:extLst>
          </p:cNvPr>
          <p:cNvSpPr txBox="1"/>
          <p:nvPr/>
        </p:nvSpPr>
        <p:spPr>
          <a:xfrm>
            <a:off x="1226261" y="2285814"/>
            <a:ext cx="1239774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b="1" dirty="0">
                <a:solidFill>
                  <a:schemeClr val="bg1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Braille</a:t>
            </a:r>
            <a:r>
              <a:rPr lang="en-US" sz="9600" b="1" dirty="0">
                <a:solidFill>
                  <a:schemeClr val="bg1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Bridge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6BC86E-F3FC-E3D6-A4F2-24D87D0E525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720" y="1567482"/>
            <a:ext cx="12192000" cy="5495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88977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A87958-C4F4-F72C-EA6D-88F8CC540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34028E5-F5C8-937A-7E66-19F95E9BC709}"/>
              </a:ext>
            </a:extLst>
          </p:cNvPr>
          <p:cNvSpPr txBox="1"/>
          <p:nvPr/>
        </p:nvSpPr>
        <p:spPr>
          <a:xfrm>
            <a:off x="1226261" y="662279"/>
            <a:ext cx="1239774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b="1" dirty="0">
                <a:solidFill>
                  <a:schemeClr val="bg1"/>
                </a:solidFill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Braille</a:t>
            </a:r>
            <a:r>
              <a:rPr lang="en-US" sz="9600" b="1" dirty="0">
                <a:solidFill>
                  <a:schemeClr val="bg1"/>
                </a:solidFill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 Bridge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C4785E3-FC90-CEA4-B1CD-CDEBDD0708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47109"/>
            <a:ext cx="12192000" cy="549553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2C85C29-DFA4-48E8-59F9-86D87B490F74}"/>
              </a:ext>
            </a:extLst>
          </p:cNvPr>
          <p:cNvSpPr txBox="1"/>
          <p:nvPr/>
        </p:nvSpPr>
        <p:spPr>
          <a:xfrm>
            <a:off x="4192074" y="7395478"/>
            <a:ext cx="646611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 </a:t>
            </a:r>
            <a:r>
              <a:rPr lang="en-US" sz="4800" b="1" dirty="0"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Low-Cost</a:t>
            </a:r>
            <a:r>
              <a:rPr lang="en-US" sz="4800" b="1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4800" b="1" dirty="0">
                <a:solidFill>
                  <a:schemeClr val="bg1"/>
                </a:solidFill>
                <a:highlight>
                  <a:srgbClr val="FF00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Bilingual</a:t>
            </a:r>
            <a:r>
              <a:rPr lang="en-US" sz="4800" b="1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Braille Writing </a:t>
            </a:r>
            <a:r>
              <a:rPr lang="en-US" sz="4800" b="1" dirty="0">
                <a:highlight>
                  <a:srgbClr val="00FFFF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System</a:t>
            </a:r>
          </a:p>
        </p:txBody>
      </p:sp>
    </p:spTree>
    <p:extLst>
      <p:ext uri="{BB962C8B-B14F-4D97-AF65-F5344CB8AC3E}">
        <p14:creationId xmlns:p14="http://schemas.microsoft.com/office/powerpoint/2010/main" val="262569263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Char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FC1EFF-C15B-08A1-1247-97E2D8B4B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009F71-979C-D819-1DB3-BF48ECCA1B28}"/>
              </a:ext>
            </a:extLst>
          </p:cNvPr>
          <p:cNvSpPr txBox="1"/>
          <p:nvPr/>
        </p:nvSpPr>
        <p:spPr>
          <a:xfrm>
            <a:off x="4580747" y="2465338"/>
            <a:ext cx="646611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 </a:t>
            </a:r>
            <a:r>
              <a:rPr lang="en-US" sz="4800" b="1" dirty="0"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Low-Cost</a:t>
            </a:r>
            <a:r>
              <a:rPr lang="en-US" sz="4800" b="1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4800" b="1" dirty="0">
                <a:solidFill>
                  <a:schemeClr val="bg1"/>
                </a:solidFill>
                <a:highlight>
                  <a:srgbClr val="FF00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Bilingual</a:t>
            </a:r>
            <a:r>
              <a:rPr lang="en-US" sz="4800" b="1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Braille Writing </a:t>
            </a:r>
            <a:r>
              <a:rPr lang="en-US" sz="4800" b="1" dirty="0">
                <a:highlight>
                  <a:srgbClr val="00FFFF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System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A12CBC-A44D-24C8-96DC-D6C6BEC90E61}"/>
              </a:ext>
            </a:extLst>
          </p:cNvPr>
          <p:cNvSpPr txBox="1"/>
          <p:nvPr/>
        </p:nvSpPr>
        <p:spPr>
          <a:xfrm>
            <a:off x="1282245" y="326377"/>
            <a:ext cx="1239774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b="1" dirty="0">
                <a:solidFill>
                  <a:schemeClr val="bg1"/>
                </a:solidFill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Braille</a:t>
            </a:r>
            <a:r>
              <a:rPr lang="en-US" sz="9600" b="1" dirty="0">
                <a:solidFill>
                  <a:schemeClr val="bg1"/>
                </a:solidFill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 Bridge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077168-BAF1-A345-342E-2998C37022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150443" y="2284328"/>
            <a:ext cx="12192000" cy="5495537"/>
          </a:xfrm>
          <a:prstGeom prst="rect">
            <a:avLst/>
          </a:prstGeom>
        </p:spPr>
      </p:pic>
      <p:pic>
        <p:nvPicPr>
          <p:cNvPr id="4" name="Picture 3" descr="Handframe/Slate and Stylus">
            <a:extLst>
              <a:ext uri="{FF2B5EF4-FFF2-40B4-BE49-F238E27FC236}">
                <a16:creationId xmlns:a16="http://schemas.microsoft.com/office/drawing/2014/main" id="{B5663D42-2089-E457-75E1-6C95537685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-289560" y="7960875"/>
            <a:ext cx="5445254" cy="527202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26C6495-5EC5-490A-BECC-31C479EC31C6}"/>
              </a:ext>
            </a:extLst>
          </p:cNvPr>
          <p:cNvSpPr txBox="1"/>
          <p:nvPr/>
        </p:nvSpPr>
        <p:spPr>
          <a:xfrm>
            <a:off x="14161627" y="2003673"/>
            <a:ext cx="52222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rgbClr val="5C9493"/>
                </a:solidFill>
                <a:latin typeface="Bahnschrift" panose="020B0502040204020203" pitchFamily="34" charset="0"/>
              </a:rPr>
              <a:t>Slate &amp; Stylus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D152489-91BF-CCE3-8CE2-677E0E227DAF}"/>
              </a:ext>
            </a:extLst>
          </p:cNvPr>
          <p:cNvSpPr/>
          <p:nvPr/>
        </p:nvSpPr>
        <p:spPr>
          <a:xfrm>
            <a:off x="5708795" y="-3791478"/>
            <a:ext cx="152400" cy="2862322"/>
          </a:xfrm>
          <a:prstGeom prst="rect">
            <a:avLst/>
          </a:prstGeom>
          <a:solidFill>
            <a:srgbClr val="5C9493"/>
          </a:solidFill>
          <a:ln>
            <a:solidFill>
              <a:srgbClr val="5C94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1EE41C-E409-9B9B-8FE5-07275C826670}"/>
              </a:ext>
            </a:extLst>
          </p:cNvPr>
          <p:cNvSpPr txBox="1"/>
          <p:nvPr/>
        </p:nvSpPr>
        <p:spPr>
          <a:xfrm>
            <a:off x="6588370" y="7734567"/>
            <a:ext cx="488645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  <a:t>Minor Writing</a:t>
            </a:r>
            <a:b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</a:br>
            <a: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  <a:t>Too Manual</a:t>
            </a:r>
            <a:b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</a:br>
            <a: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  <a:t>Too Complex</a:t>
            </a:r>
            <a:b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</a:br>
            <a: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  <a:t>Risk of Lost Parts</a:t>
            </a:r>
            <a:b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</a:br>
            <a: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  <a:t>Not Convenient</a:t>
            </a:r>
          </a:p>
        </p:txBody>
      </p:sp>
    </p:spTree>
    <p:extLst>
      <p:ext uri="{BB962C8B-B14F-4D97-AF65-F5344CB8AC3E}">
        <p14:creationId xmlns:p14="http://schemas.microsoft.com/office/powerpoint/2010/main" val="106438714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Char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01C755-E67D-F4F1-E09D-48F51E2F6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34768AE-DF15-9DF2-E2C3-F5434C8FAA76}"/>
              </a:ext>
            </a:extLst>
          </p:cNvPr>
          <p:cNvSpPr txBox="1"/>
          <p:nvPr/>
        </p:nvSpPr>
        <p:spPr>
          <a:xfrm>
            <a:off x="1163373" y="216649"/>
            <a:ext cx="1239774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b="1" dirty="0">
                <a:solidFill>
                  <a:schemeClr val="bg1"/>
                </a:solidFill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Braille</a:t>
            </a:r>
            <a:r>
              <a:rPr lang="en-US" sz="9600" b="1" dirty="0">
                <a:solidFill>
                  <a:schemeClr val="bg1"/>
                </a:solidFill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 Bridge</a:t>
            </a:r>
          </a:p>
        </p:txBody>
      </p:sp>
      <p:pic>
        <p:nvPicPr>
          <p:cNvPr id="2" name="Picture 1" descr="Handframe/Slate and Stylus">
            <a:extLst>
              <a:ext uri="{FF2B5EF4-FFF2-40B4-BE49-F238E27FC236}">
                <a16:creationId xmlns:a16="http://schemas.microsoft.com/office/drawing/2014/main" id="{70952189-C53B-741A-099B-E0A3878A3D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-137160" y="1786309"/>
            <a:ext cx="5445254" cy="527202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15068FB-270E-190E-1836-1E561F88BE70}"/>
              </a:ext>
            </a:extLst>
          </p:cNvPr>
          <p:cNvSpPr txBox="1"/>
          <p:nvPr/>
        </p:nvSpPr>
        <p:spPr>
          <a:xfrm>
            <a:off x="4808500" y="-5148491"/>
            <a:ext cx="646611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 </a:t>
            </a:r>
            <a:r>
              <a:rPr lang="en-US" sz="4800" b="1" dirty="0"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Low-Cost</a:t>
            </a:r>
            <a:r>
              <a:rPr lang="en-US" sz="4800" b="1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4800" b="1" dirty="0">
                <a:solidFill>
                  <a:schemeClr val="bg1"/>
                </a:solidFill>
                <a:highlight>
                  <a:srgbClr val="FF00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Bilingual</a:t>
            </a:r>
            <a:r>
              <a:rPr lang="en-US" sz="4800" b="1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Braille Writing </a:t>
            </a:r>
            <a:r>
              <a:rPr lang="en-US" sz="4800" b="1" dirty="0">
                <a:highlight>
                  <a:srgbClr val="00FFFF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System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689784C-1335-B42D-4F18-09A33935DC0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150443" y="7740248"/>
            <a:ext cx="12192000" cy="549553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89E3D0D-3F0D-543B-EE15-C15B84D73A8A}"/>
              </a:ext>
            </a:extLst>
          </p:cNvPr>
          <p:cNvSpPr txBox="1"/>
          <p:nvPr/>
        </p:nvSpPr>
        <p:spPr>
          <a:xfrm>
            <a:off x="5644386" y="2113280"/>
            <a:ext cx="52222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rgbClr val="5C9493"/>
                </a:solidFill>
                <a:latin typeface="Bahnschrift" panose="020B0502040204020203" pitchFamily="34" charset="0"/>
              </a:rPr>
              <a:t>Slate &amp; Stylus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3C800B-7B47-D10F-6735-C0B103893017}"/>
              </a:ext>
            </a:extLst>
          </p:cNvPr>
          <p:cNvSpPr txBox="1"/>
          <p:nvPr/>
        </p:nvSpPr>
        <p:spPr>
          <a:xfrm>
            <a:off x="6096000" y="3143022"/>
            <a:ext cx="488645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5C9493"/>
                </a:solidFill>
                <a:latin typeface="Bahnschrift" panose="020B0502040204020203" pitchFamily="34" charset="0"/>
              </a:rPr>
              <a:t>Minor </a:t>
            </a:r>
            <a: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  <a:t>Writing</a:t>
            </a:r>
            <a:b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</a:br>
            <a: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  <a:t>Too </a:t>
            </a:r>
            <a:r>
              <a:rPr lang="en-US" sz="3600" b="1" dirty="0">
                <a:solidFill>
                  <a:srgbClr val="5C9493"/>
                </a:solidFill>
                <a:latin typeface="Bahnschrift" panose="020B0502040204020203" pitchFamily="34" charset="0"/>
              </a:rPr>
              <a:t>Manual</a:t>
            </a:r>
            <a:b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</a:br>
            <a: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  <a:t>Too </a:t>
            </a:r>
            <a:r>
              <a:rPr lang="en-US" sz="3600" b="1" dirty="0">
                <a:solidFill>
                  <a:srgbClr val="5C9493"/>
                </a:solidFill>
                <a:latin typeface="Bahnschrift" panose="020B0502040204020203" pitchFamily="34" charset="0"/>
              </a:rPr>
              <a:t>Complex</a:t>
            </a:r>
            <a:br>
              <a:rPr lang="en-US" sz="3600" b="1" dirty="0">
                <a:solidFill>
                  <a:srgbClr val="5C9493"/>
                </a:solidFill>
                <a:latin typeface="Bahnschrift" panose="020B0502040204020203" pitchFamily="34" charset="0"/>
              </a:rPr>
            </a:br>
            <a:r>
              <a:rPr lang="en-US" sz="3600" b="1" dirty="0">
                <a:solidFill>
                  <a:srgbClr val="5C9493"/>
                </a:solidFill>
                <a:latin typeface="Bahnschrift" panose="020B0502040204020203" pitchFamily="34" charset="0"/>
              </a:rPr>
              <a:t>Risk</a:t>
            </a:r>
            <a: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  <a:t> of Lost Parts</a:t>
            </a:r>
            <a:b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</a:br>
            <a: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  <a:t>Not </a:t>
            </a:r>
            <a:r>
              <a:rPr lang="en-US" sz="3600" b="1" dirty="0">
                <a:solidFill>
                  <a:srgbClr val="5C9493"/>
                </a:solidFill>
                <a:latin typeface="Bahnschrift" panose="020B0502040204020203" pitchFamily="34" charset="0"/>
              </a:rPr>
              <a:t>Convenient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278D5E3-1C15-C1FA-B867-704EE5BF055E}"/>
              </a:ext>
            </a:extLst>
          </p:cNvPr>
          <p:cNvSpPr/>
          <p:nvPr/>
        </p:nvSpPr>
        <p:spPr>
          <a:xfrm>
            <a:off x="5842000" y="2991162"/>
            <a:ext cx="152400" cy="2862322"/>
          </a:xfrm>
          <a:prstGeom prst="rect">
            <a:avLst/>
          </a:prstGeom>
          <a:solidFill>
            <a:srgbClr val="5C9493"/>
          </a:solidFill>
          <a:ln>
            <a:solidFill>
              <a:srgbClr val="5C94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456A0EA-C1E9-E6D4-36A4-52011F2298BD}"/>
              </a:ext>
            </a:extLst>
          </p:cNvPr>
          <p:cNvSpPr txBox="1"/>
          <p:nvPr/>
        </p:nvSpPr>
        <p:spPr>
          <a:xfrm>
            <a:off x="-6660586" y="1651615"/>
            <a:ext cx="52222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rgbClr val="CDC5C0"/>
                </a:solidFill>
                <a:latin typeface="Bahnschrift" panose="020B0502040204020203" pitchFamily="34" charset="0"/>
              </a:rPr>
              <a:t>Perkins Braille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47DE295-D80B-2871-EF4A-C436015ECDCA}"/>
              </a:ext>
            </a:extLst>
          </p:cNvPr>
          <p:cNvSpPr txBox="1"/>
          <p:nvPr/>
        </p:nvSpPr>
        <p:spPr>
          <a:xfrm>
            <a:off x="1627290" y="9068599"/>
            <a:ext cx="488645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  <a:t>Minor Writing</a:t>
            </a:r>
            <a:b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</a:br>
            <a: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  <a:t>Too Manual</a:t>
            </a:r>
            <a:b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</a:br>
            <a: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  <a:t>Too Complex</a:t>
            </a:r>
            <a:b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</a:br>
            <a: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  <a:t>Risk of Lost Parts</a:t>
            </a:r>
            <a:b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</a:br>
            <a: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  <a:t>Not Convenient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A6566E2-4F0A-4D7D-4CC9-FB9DBC519F01}"/>
              </a:ext>
            </a:extLst>
          </p:cNvPr>
          <p:cNvSpPr/>
          <p:nvPr/>
        </p:nvSpPr>
        <p:spPr>
          <a:xfrm>
            <a:off x="1474890" y="-3918450"/>
            <a:ext cx="152400" cy="2862322"/>
          </a:xfrm>
          <a:prstGeom prst="rect">
            <a:avLst/>
          </a:prstGeom>
          <a:solidFill>
            <a:srgbClr val="CDC5C0"/>
          </a:solidFill>
          <a:ln>
            <a:solidFill>
              <a:srgbClr val="CDC5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9FB6B5"/>
              </a:solidFill>
            </a:endParaRPr>
          </a:p>
        </p:txBody>
      </p:sp>
      <p:pic>
        <p:nvPicPr>
          <p:cNvPr id="18" name="Picture 17" descr="Perkins Smart English talking brailler for learning braille">
            <a:extLst>
              <a:ext uri="{FF2B5EF4-FFF2-40B4-BE49-F238E27FC236}">
                <a16:creationId xmlns:a16="http://schemas.microsoft.com/office/drawing/2014/main" id="{06DB9795-F5DF-E157-C8B6-5E41A294938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0296" r="12308"/>
          <a:stretch>
            <a:fillRect/>
          </a:stretch>
        </p:blipFill>
        <p:spPr>
          <a:xfrm>
            <a:off x="5644386" y="7362057"/>
            <a:ext cx="6132273" cy="5397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225679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89CFC8-C738-65A9-8A7A-F0D2EBA16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26351EA-D830-CA5B-44DE-01A41FAF45A6}"/>
              </a:ext>
            </a:extLst>
          </p:cNvPr>
          <p:cNvSpPr txBox="1"/>
          <p:nvPr/>
        </p:nvSpPr>
        <p:spPr>
          <a:xfrm>
            <a:off x="1163373" y="216649"/>
            <a:ext cx="1239774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b="1" dirty="0">
                <a:solidFill>
                  <a:schemeClr val="bg1"/>
                </a:solidFill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Braille</a:t>
            </a:r>
            <a:r>
              <a:rPr lang="en-US" sz="9600" b="1" dirty="0">
                <a:solidFill>
                  <a:schemeClr val="bg1"/>
                </a:solidFill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 Bridge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5C4228-C918-9CF6-73C4-797699DC386B}"/>
              </a:ext>
            </a:extLst>
          </p:cNvPr>
          <p:cNvSpPr txBox="1"/>
          <p:nvPr/>
        </p:nvSpPr>
        <p:spPr>
          <a:xfrm>
            <a:off x="4808500" y="-5148491"/>
            <a:ext cx="646611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 </a:t>
            </a:r>
            <a:r>
              <a:rPr lang="en-US" sz="4800" b="1" dirty="0"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Low-Cost</a:t>
            </a:r>
            <a:r>
              <a:rPr lang="en-US" sz="4800" b="1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4800" b="1" dirty="0">
                <a:solidFill>
                  <a:schemeClr val="bg1"/>
                </a:solidFill>
                <a:highlight>
                  <a:srgbClr val="FF00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Bilingual</a:t>
            </a:r>
            <a:r>
              <a:rPr lang="en-US" sz="4800" b="1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Braille Writing </a:t>
            </a:r>
            <a:r>
              <a:rPr lang="en-US" sz="4800" b="1" dirty="0">
                <a:highlight>
                  <a:srgbClr val="00FFFF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System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C90D53E-18F6-9416-387F-E4C6D66A32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150443" y="7740248"/>
            <a:ext cx="12192000" cy="549553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DF6E3CD-E7C8-C24F-980B-B05CEDD986C6}"/>
              </a:ext>
            </a:extLst>
          </p:cNvPr>
          <p:cNvSpPr txBox="1"/>
          <p:nvPr/>
        </p:nvSpPr>
        <p:spPr>
          <a:xfrm>
            <a:off x="1102540" y="2190442"/>
            <a:ext cx="52222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rgbClr val="CDC5C0"/>
                </a:solidFill>
                <a:latin typeface="Bahnschrift" panose="020B0502040204020203" pitchFamily="34" charset="0"/>
              </a:rPr>
              <a:t>Perkins Braille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34311D-64FD-118E-DAB5-5947CD9CFD66}"/>
              </a:ext>
            </a:extLst>
          </p:cNvPr>
          <p:cNvSpPr txBox="1"/>
          <p:nvPr/>
        </p:nvSpPr>
        <p:spPr>
          <a:xfrm>
            <a:off x="1684473" y="3068324"/>
            <a:ext cx="488645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  <a:t>Too </a:t>
            </a:r>
            <a:r>
              <a:rPr lang="en-US" sz="3600" b="1" dirty="0">
                <a:solidFill>
                  <a:srgbClr val="CDC5C0"/>
                </a:solidFill>
                <a:latin typeface="Bahnschrift" panose="020B0502040204020203" pitchFamily="34" charset="0"/>
              </a:rPr>
              <a:t>Bulky</a:t>
            </a:r>
            <a:b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</a:br>
            <a: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  <a:t>Very </a:t>
            </a:r>
            <a:r>
              <a:rPr lang="en-US" sz="3600" b="1" dirty="0">
                <a:solidFill>
                  <a:srgbClr val="CDC5C0"/>
                </a:solidFill>
                <a:latin typeface="Bahnschrift" panose="020B0502040204020203" pitchFamily="34" charset="0"/>
              </a:rPr>
              <a:t>Heavy</a:t>
            </a:r>
          </a:p>
          <a:p>
            <a: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  <a:t>Finger </a:t>
            </a:r>
            <a:r>
              <a:rPr lang="en-US" sz="3600" b="1" dirty="0">
                <a:solidFill>
                  <a:srgbClr val="CDC5C0"/>
                </a:solidFill>
                <a:latin typeface="Bahnschrift" panose="020B0502040204020203" pitchFamily="34" charset="0"/>
              </a:rPr>
              <a:t>Fatigue</a:t>
            </a:r>
            <a:b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</a:br>
            <a: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  <a:t>Loud </a:t>
            </a:r>
            <a:r>
              <a:rPr lang="en-US" sz="3600" b="1" dirty="0">
                <a:solidFill>
                  <a:srgbClr val="CDC5C0"/>
                </a:solidFill>
                <a:latin typeface="Bahnschrift" panose="020B0502040204020203" pitchFamily="34" charset="0"/>
              </a:rPr>
              <a:t>Noise</a:t>
            </a:r>
            <a:b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</a:br>
            <a:r>
              <a:rPr lang="en-US" sz="3600" b="1" dirty="0">
                <a:solidFill>
                  <a:schemeClr val="bg1"/>
                </a:solidFill>
                <a:highlight>
                  <a:srgbClr val="FF0000"/>
                </a:highlight>
                <a:latin typeface="Bahnschrift" panose="020B0502040204020203" pitchFamily="34" charset="0"/>
              </a:rPr>
              <a:t>700-800 USD!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E0527B7-64C2-C958-DF1B-9C43BE6C22B9}"/>
              </a:ext>
            </a:extLst>
          </p:cNvPr>
          <p:cNvSpPr/>
          <p:nvPr/>
        </p:nvSpPr>
        <p:spPr>
          <a:xfrm>
            <a:off x="1364631" y="3068324"/>
            <a:ext cx="152400" cy="2862322"/>
          </a:xfrm>
          <a:prstGeom prst="rect">
            <a:avLst/>
          </a:prstGeom>
          <a:solidFill>
            <a:srgbClr val="CDC5C0"/>
          </a:solidFill>
          <a:ln>
            <a:solidFill>
              <a:srgbClr val="CDC5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9FB6B5"/>
              </a:solidFill>
            </a:endParaRPr>
          </a:p>
        </p:txBody>
      </p:sp>
      <p:pic>
        <p:nvPicPr>
          <p:cNvPr id="3" name="Picture 2" descr="Perkins Smart English talking brailler for learning braille">
            <a:extLst>
              <a:ext uri="{FF2B5EF4-FFF2-40B4-BE49-F238E27FC236}">
                <a16:creationId xmlns:a16="http://schemas.microsoft.com/office/drawing/2014/main" id="{D1B15E9F-EB71-5B3E-6306-D4412492029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296" r="12308"/>
          <a:stretch>
            <a:fillRect/>
          </a:stretch>
        </p:blipFill>
        <p:spPr>
          <a:xfrm>
            <a:off x="5571250" y="1513642"/>
            <a:ext cx="6132273" cy="5397735"/>
          </a:xfrm>
          <a:prstGeom prst="rect">
            <a:avLst/>
          </a:prstGeom>
        </p:spPr>
      </p:pic>
      <p:pic>
        <p:nvPicPr>
          <p:cNvPr id="11" name="Picture 10" descr="Handframe/Slate and Stylus">
            <a:extLst>
              <a:ext uri="{FF2B5EF4-FFF2-40B4-BE49-F238E27FC236}">
                <a16:creationId xmlns:a16="http://schemas.microsoft.com/office/drawing/2014/main" id="{BDCDBC71-39D2-39C9-C885-49869CD0A1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-320040" y="7315510"/>
            <a:ext cx="5445254" cy="527202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E762BC5-6459-099B-B266-B4FACF492C3B}"/>
              </a:ext>
            </a:extLst>
          </p:cNvPr>
          <p:cNvSpPr txBox="1"/>
          <p:nvPr/>
        </p:nvSpPr>
        <p:spPr>
          <a:xfrm>
            <a:off x="5430437" y="-5093027"/>
            <a:ext cx="52222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rgbClr val="5C9493"/>
                </a:solidFill>
                <a:latin typeface="Bahnschrift" panose="020B0502040204020203" pitchFamily="34" charset="0"/>
              </a:rPr>
              <a:t>Slate &amp; Stylus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D3E8248-F3BC-6761-6217-DB82015653BE}"/>
              </a:ext>
            </a:extLst>
          </p:cNvPr>
          <p:cNvSpPr txBox="1"/>
          <p:nvPr/>
        </p:nvSpPr>
        <p:spPr>
          <a:xfrm>
            <a:off x="6324780" y="8520363"/>
            <a:ext cx="488645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  <a:t>Minor Writing</a:t>
            </a:r>
            <a:b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</a:br>
            <a: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  <a:t>Too Manual</a:t>
            </a:r>
            <a:b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</a:br>
            <a: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  <a:t>Too Complex</a:t>
            </a:r>
            <a:b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</a:br>
            <a: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  <a:t>Risk of Lost Parts</a:t>
            </a:r>
            <a:b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</a:br>
            <a: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  <a:t>Not Convenient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749A93A-53C4-573A-5008-AE8CCBDF59B2}"/>
              </a:ext>
            </a:extLst>
          </p:cNvPr>
          <p:cNvSpPr/>
          <p:nvPr/>
        </p:nvSpPr>
        <p:spPr>
          <a:xfrm>
            <a:off x="5659120" y="8520363"/>
            <a:ext cx="152400" cy="2862322"/>
          </a:xfrm>
          <a:prstGeom prst="rect">
            <a:avLst/>
          </a:prstGeom>
          <a:solidFill>
            <a:srgbClr val="5C9493"/>
          </a:solidFill>
          <a:ln>
            <a:solidFill>
              <a:srgbClr val="5C94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E63B47CA-7FBF-50B7-5698-790BF7278D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517031" y="7315510"/>
            <a:ext cx="8748578" cy="4923692"/>
          </a:xfrm>
          <a:prstGeom prst="rect">
            <a:avLst/>
          </a:prstGeom>
        </p:spPr>
      </p:pic>
      <p:pic>
        <p:nvPicPr>
          <p:cNvPr id="21" name="Picture 20" descr="ESP32 DevKitC | Free SVG">
            <a:extLst>
              <a:ext uri="{FF2B5EF4-FFF2-40B4-BE49-F238E27FC236}">
                <a16:creationId xmlns:a16="http://schemas.microsoft.com/office/drawing/2014/main" id="{164087EA-7953-84DE-ABE4-D2D522CB48A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226351" y="3252410"/>
            <a:ext cx="3025772" cy="3025772"/>
          </a:xfrm>
          <a:prstGeom prst="rect">
            <a:avLst/>
          </a:prstGeom>
        </p:spPr>
      </p:pic>
      <p:pic>
        <p:nvPicPr>
          <p:cNvPr id="22" name="Picture 21" descr="Amazon.co.jp: OUTEMU (Gaote) Red Mechanical Key Switch (Red Axis) 20 Kets  (20 Pieces) | Linear Switch | 3 Pin | DIY Interchangeable Switch for ...">
            <a:extLst>
              <a:ext uri="{FF2B5EF4-FFF2-40B4-BE49-F238E27FC236}">
                <a16:creationId xmlns:a16="http://schemas.microsoft.com/office/drawing/2014/main" id="{F2C50435-40BE-583D-5A7A-A035CBD4752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-4742585" y="10691504"/>
            <a:ext cx="2198493" cy="2198493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6E345510-1E0E-C738-4015-42E5CC03FC42}"/>
              </a:ext>
            </a:extLst>
          </p:cNvPr>
          <p:cNvSpPr txBox="1"/>
          <p:nvPr/>
        </p:nvSpPr>
        <p:spPr>
          <a:xfrm>
            <a:off x="-11966494" y="1334744"/>
            <a:ext cx="5925165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Custom 3d</a:t>
            </a:r>
            <a:b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Printed Shell</a:t>
            </a:r>
            <a:b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with Ergonomic</a:t>
            </a:r>
            <a:b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Design Made for</a:t>
            </a:r>
            <a:b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Flexibility </a:t>
            </a:r>
            <a:b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&amp; Scalability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E1DDB5C-1B0B-9A37-619F-640D247F9FF6}"/>
              </a:ext>
            </a:extLst>
          </p:cNvPr>
          <p:cNvSpPr txBox="1"/>
          <p:nvPr/>
        </p:nvSpPr>
        <p:spPr>
          <a:xfrm>
            <a:off x="-10495203" y="5108736"/>
            <a:ext cx="59251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9FB6B5"/>
                </a:solidFill>
                <a:latin typeface="Bahnschrift" panose="020B0502040204020203" pitchFamily="34" charset="0"/>
              </a:rPr>
              <a:t>6 Keys to Type + Shift and Space Key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6262174-4AF9-B656-0DEF-F77336F8DB39}"/>
              </a:ext>
            </a:extLst>
          </p:cNvPr>
          <p:cNvSpPr txBox="1"/>
          <p:nvPr/>
        </p:nvSpPr>
        <p:spPr>
          <a:xfrm>
            <a:off x="-10495204" y="4646940"/>
            <a:ext cx="59251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x8 Tactile Switches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7BBCE7C7-DAD0-D4AA-A8CA-0310E4C07239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8493" t="22605" r="7884" b="24464"/>
          <a:stretch>
            <a:fillRect/>
          </a:stretch>
        </p:blipFill>
        <p:spPr>
          <a:xfrm>
            <a:off x="13266108" y="1749366"/>
            <a:ext cx="3719864" cy="1569660"/>
          </a:xfrm>
          <a:prstGeom prst="roundRect">
            <a:avLst>
              <a:gd name="adj" fmla="val 5327"/>
            </a:avLst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5B75061C-0423-056A-6CE2-A0A9C714E40E}"/>
              </a:ext>
            </a:extLst>
          </p:cNvPr>
          <p:cNvSpPr txBox="1"/>
          <p:nvPr/>
        </p:nvSpPr>
        <p:spPr>
          <a:xfrm>
            <a:off x="-3427317" y="1203457"/>
            <a:ext cx="59251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PCB Support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C3B1CC6-4C0C-20B7-267B-F23B22EE9139}"/>
              </a:ext>
            </a:extLst>
          </p:cNvPr>
          <p:cNvGrpSpPr/>
          <p:nvPr/>
        </p:nvGrpSpPr>
        <p:grpSpPr>
          <a:xfrm>
            <a:off x="9371421" y="7650729"/>
            <a:ext cx="1014413" cy="1042595"/>
            <a:chOff x="2865336" y="2558791"/>
            <a:chExt cx="1014413" cy="1042595"/>
          </a:xfrm>
        </p:grpSpPr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23851145-901E-EBC5-C5AA-05BDE9045D23}"/>
                </a:ext>
              </a:extLst>
            </p:cNvPr>
            <p:cNvCxnSpPr/>
            <p:nvPr/>
          </p:nvCxnSpPr>
          <p:spPr>
            <a:xfrm>
              <a:off x="2965349" y="2686986"/>
              <a:ext cx="914400" cy="91440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C984FB79-6A4E-05A0-A694-64E6FF256A15}"/>
                </a:ext>
              </a:extLst>
            </p:cNvPr>
            <p:cNvSpPr/>
            <p:nvPr/>
          </p:nvSpPr>
          <p:spPr>
            <a:xfrm>
              <a:off x="2865336" y="2558791"/>
              <a:ext cx="200025" cy="21503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11069769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D14909-8B28-20FA-EED2-7030E1B224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8B9F6D6-D6F4-F8CD-858F-87AD80F8F60D}"/>
              </a:ext>
            </a:extLst>
          </p:cNvPr>
          <p:cNvSpPr txBox="1"/>
          <p:nvPr/>
        </p:nvSpPr>
        <p:spPr>
          <a:xfrm>
            <a:off x="1163373" y="216649"/>
            <a:ext cx="1239774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b="1" dirty="0">
                <a:solidFill>
                  <a:schemeClr val="bg1"/>
                </a:solidFill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Braille</a:t>
            </a:r>
            <a:r>
              <a:rPr lang="en-US" sz="9600" b="1" dirty="0">
                <a:solidFill>
                  <a:schemeClr val="bg1"/>
                </a:solidFill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 Bridge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A2648B2-CAB9-AAAD-8CEF-7C06165FF6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150443" y="7740248"/>
            <a:ext cx="12192000" cy="549553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55B1050-9081-3A0D-D90C-CD67A14AA8B3}"/>
              </a:ext>
            </a:extLst>
          </p:cNvPr>
          <p:cNvSpPr txBox="1"/>
          <p:nvPr/>
        </p:nvSpPr>
        <p:spPr>
          <a:xfrm>
            <a:off x="-6939491" y="2015295"/>
            <a:ext cx="52222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rgbClr val="CDC5C0"/>
                </a:solidFill>
                <a:latin typeface="Bahnschrift" panose="020B0502040204020203" pitchFamily="34" charset="0"/>
              </a:rPr>
              <a:t>Perkins Braille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7CC2A12-344D-9873-7B02-B1A559F5E9A8}"/>
              </a:ext>
            </a:extLst>
          </p:cNvPr>
          <p:cNvSpPr txBox="1"/>
          <p:nvPr/>
        </p:nvSpPr>
        <p:spPr>
          <a:xfrm>
            <a:off x="-6357558" y="2893177"/>
            <a:ext cx="488645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  <a:t>Too </a:t>
            </a:r>
            <a:r>
              <a:rPr lang="en-US" sz="3600" b="1" dirty="0">
                <a:solidFill>
                  <a:srgbClr val="CDC5C0"/>
                </a:solidFill>
                <a:latin typeface="Bahnschrift" panose="020B0502040204020203" pitchFamily="34" charset="0"/>
              </a:rPr>
              <a:t>Bulky</a:t>
            </a:r>
            <a:b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</a:br>
            <a: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  <a:t>Very </a:t>
            </a:r>
            <a:r>
              <a:rPr lang="en-US" sz="3600" b="1" dirty="0">
                <a:solidFill>
                  <a:srgbClr val="CDC5C0"/>
                </a:solidFill>
                <a:latin typeface="Bahnschrift" panose="020B0502040204020203" pitchFamily="34" charset="0"/>
              </a:rPr>
              <a:t>Heavy</a:t>
            </a:r>
          </a:p>
          <a:p>
            <a: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  <a:t>Finger </a:t>
            </a:r>
            <a:r>
              <a:rPr lang="en-US" sz="3600" b="1" dirty="0">
                <a:solidFill>
                  <a:srgbClr val="CDC5C0"/>
                </a:solidFill>
                <a:latin typeface="Bahnschrift" panose="020B0502040204020203" pitchFamily="34" charset="0"/>
              </a:rPr>
              <a:t>Fatigue</a:t>
            </a:r>
            <a:b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</a:br>
            <a: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  <a:t>Loud </a:t>
            </a:r>
            <a:r>
              <a:rPr lang="en-US" sz="3600" b="1" dirty="0">
                <a:solidFill>
                  <a:srgbClr val="CDC5C0"/>
                </a:solidFill>
                <a:latin typeface="Bahnschrift" panose="020B0502040204020203" pitchFamily="34" charset="0"/>
              </a:rPr>
              <a:t>Noise</a:t>
            </a:r>
            <a:b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</a:br>
            <a:r>
              <a:rPr lang="en-US" sz="3600" b="1" dirty="0">
                <a:solidFill>
                  <a:schemeClr val="bg1"/>
                </a:solidFill>
                <a:highlight>
                  <a:srgbClr val="FF0000"/>
                </a:highlight>
                <a:latin typeface="Bahnschrift" panose="020B0502040204020203" pitchFamily="34" charset="0"/>
              </a:rPr>
              <a:t>700-800 USD!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97715D3-43B8-CC3E-9612-675943706E3E}"/>
              </a:ext>
            </a:extLst>
          </p:cNvPr>
          <p:cNvSpPr/>
          <p:nvPr/>
        </p:nvSpPr>
        <p:spPr>
          <a:xfrm>
            <a:off x="-6677400" y="2893177"/>
            <a:ext cx="152400" cy="2862322"/>
          </a:xfrm>
          <a:prstGeom prst="rect">
            <a:avLst/>
          </a:prstGeom>
          <a:solidFill>
            <a:srgbClr val="CDC5C0"/>
          </a:solidFill>
          <a:ln>
            <a:solidFill>
              <a:srgbClr val="CDC5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9FB6B5"/>
              </a:solidFill>
            </a:endParaRPr>
          </a:p>
        </p:txBody>
      </p:sp>
      <p:pic>
        <p:nvPicPr>
          <p:cNvPr id="3" name="Picture 2" descr="Perkins Smart English talking brailler for learning braille">
            <a:extLst>
              <a:ext uri="{FF2B5EF4-FFF2-40B4-BE49-F238E27FC236}">
                <a16:creationId xmlns:a16="http://schemas.microsoft.com/office/drawing/2014/main" id="{771EB661-3765-0C26-4842-328133159CC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296" r="12308"/>
          <a:stretch>
            <a:fillRect/>
          </a:stretch>
        </p:blipFill>
        <p:spPr>
          <a:xfrm>
            <a:off x="14082204" y="1001479"/>
            <a:ext cx="6132273" cy="539773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C04B3B8-FCA9-2C80-FE03-FDB208EC84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512164" y="1093461"/>
            <a:ext cx="8748578" cy="4923692"/>
          </a:xfrm>
          <a:prstGeom prst="rect">
            <a:avLst/>
          </a:prstGeom>
        </p:spPr>
      </p:pic>
      <p:pic>
        <p:nvPicPr>
          <p:cNvPr id="12" name="Picture 11" descr="ESP32 DevKitC | Free SVG">
            <a:extLst>
              <a:ext uri="{FF2B5EF4-FFF2-40B4-BE49-F238E27FC236}">
                <a16:creationId xmlns:a16="http://schemas.microsoft.com/office/drawing/2014/main" id="{B8AE33A6-619C-2691-B117-37A5A973F0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0782" y="4156888"/>
            <a:ext cx="3025772" cy="302577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38A97BA-B013-AACD-BB6D-A2ED77D38675}"/>
              </a:ext>
            </a:extLst>
          </p:cNvPr>
          <p:cNvSpPr txBox="1"/>
          <p:nvPr/>
        </p:nvSpPr>
        <p:spPr>
          <a:xfrm>
            <a:off x="9813775" y="4043654"/>
            <a:ext cx="20424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ESP-32</a:t>
            </a:r>
          </a:p>
        </p:txBody>
      </p:sp>
      <p:pic>
        <p:nvPicPr>
          <p:cNvPr id="16" name="Picture 15" descr="Amazon.co.jp: OUTEMU (Gaote) Red Mechanical Key Switch (Red Axis) 20 Kets  (20 Pieces) | Linear Switch | 3 Pin | DIY Interchangeable Switch for ...">
            <a:extLst>
              <a:ext uri="{FF2B5EF4-FFF2-40B4-BE49-F238E27FC236}">
                <a16:creationId xmlns:a16="http://schemas.microsoft.com/office/drawing/2014/main" id="{14B1BD1B-65B9-DBD8-019E-3B0CFFD055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0" y="4757274"/>
            <a:ext cx="2198493" cy="2198493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1A9D89A0-8535-A1C5-7FD6-7C338925F2FA}"/>
              </a:ext>
            </a:extLst>
          </p:cNvPr>
          <p:cNvSpPr txBox="1"/>
          <p:nvPr/>
        </p:nvSpPr>
        <p:spPr>
          <a:xfrm>
            <a:off x="459967" y="2012329"/>
            <a:ext cx="5925165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Custom 3d</a:t>
            </a:r>
            <a:b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Printed Shell</a:t>
            </a:r>
            <a:b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with Ergonomic</a:t>
            </a:r>
            <a:b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Design Made for</a:t>
            </a:r>
            <a:b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Flexibility </a:t>
            </a:r>
            <a:b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&amp; Scalability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BF697B3-24A9-CCC0-7950-47495EB54B2A}"/>
              </a:ext>
            </a:extLst>
          </p:cNvPr>
          <p:cNvSpPr txBox="1"/>
          <p:nvPr/>
        </p:nvSpPr>
        <p:spPr>
          <a:xfrm>
            <a:off x="1931258" y="5786321"/>
            <a:ext cx="59251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9FB6B5"/>
                </a:solidFill>
                <a:latin typeface="Bahnschrift" panose="020B0502040204020203" pitchFamily="34" charset="0"/>
              </a:rPr>
              <a:t>6 Keys to Type + Shift and Space Key</a:t>
            </a:r>
          </a:p>
        </p:txBody>
      </p:sp>
      <p:pic>
        <p:nvPicPr>
          <p:cNvPr id="21" name="Picture 20" descr="File:C++ logo.png - Wikimedia Commons">
            <a:extLst>
              <a:ext uri="{FF2B5EF4-FFF2-40B4-BE49-F238E27FC236}">
                <a16:creationId xmlns:a16="http://schemas.microsoft.com/office/drawing/2014/main" id="{AE297CF3-1768-3D82-59DF-82614BBE7B5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19130" y="3976366"/>
            <a:ext cx="694645" cy="780908"/>
          </a:xfrm>
          <a:prstGeom prst="rect">
            <a:avLst/>
          </a:prstGeom>
        </p:spPr>
      </p:pic>
      <p:grpSp>
        <p:nvGrpSpPr>
          <p:cNvPr id="34" name="Group 33">
            <a:extLst>
              <a:ext uri="{FF2B5EF4-FFF2-40B4-BE49-F238E27FC236}">
                <a16:creationId xmlns:a16="http://schemas.microsoft.com/office/drawing/2014/main" id="{3EBF7393-DFC1-6202-F6C0-2EF9947DB548}"/>
              </a:ext>
            </a:extLst>
          </p:cNvPr>
          <p:cNvGrpSpPr/>
          <p:nvPr/>
        </p:nvGrpSpPr>
        <p:grpSpPr>
          <a:xfrm>
            <a:off x="2865336" y="2558791"/>
            <a:ext cx="1014413" cy="1042595"/>
            <a:chOff x="2865336" y="2558791"/>
            <a:chExt cx="1014413" cy="1042595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AD862045-0179-2CC8-8719-7817E24DFDD5}"/>
                </a:ext>
              </a:extLst>
            </p:cNvPr>
            <p:cNvCxnSpPr/>
            <p:nvPr/>
          </p:nvCxnSpPr>
          <p:spPr>
            <a:xfrm>
              <a:off x="2965349" y="2686986"/>
              <a:ext cx="914400" cy="91440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8F95670B-5B1B-BC8C-58E7-361EB76607CA}"/>
                </a:ext>
              </a:extLst>
            </p:cNvPr>
            <p:cNvSpPr/>
            <p:nvPr/>
          </p:nvSpPr>
          <p:spPr>
            <a:xfrm>
              <a:off x="2865336" y="2558791"/>
              <a:ext cx="200025" cy="21503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E58A8DDD-09AE-30BC-490B-64759C0E7F5D}"/>
              </a:ext>
            </a:extLst>
          </p:cNvPr>
          <p:cNvSpPr txBox="1"/>
          <p:nvPr/>
        </p:nvSpPr>
        <p:spPr>
          <a:xfrm>
            <a:off x="1931257" y="5324525"/>
            <a:ext cx="59251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x8 Tactile Switches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15749E13-0449-C4B9-3C3B-92E05C094458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8493" t="22605" r="7884" b="24464"/>
          <a:stretch>
            <a:fillRect/>
          </a:stretch>
        </p:blipFill>
        <p:spPr>
          <a:xfrm>
            <a:off x="8241863" y="2177518"/>
            <a:ext cx="3719864" cy="1569660"/>
          </a:xfrm>
          <a:prstGeom prst="roundRect">
            <a:avLst>
              <a:gd name="adj" fmla="val 5327"/>
            </a:avLst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1F771648-1A10-A599-C83F-77DDBA2C1E69}"/>
              </a:ext>
            </a:extLst>
          </p:cNvPr>
          <p:cNvSpPr txBox="1"/>
          <p:nvPr/>
        </p:nvSpPr>
        <p:spPr>
          <a:xfrm>
            <a:off x="8999144" y="1881042"/>
            <a:ext cx="59251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PCB Support</a:t>
            </a:r>
          </a:p>
        </p:txBody>
      </p:sp>
      <p:pic>
        <p:nvPicPr>
          <p:cNvPr id="42" name="Picture 41" descr="Amazon.co.jp: OUTEMU (Gaote) Red Mechanical Key Switch (Red Axis) 20 Kets  (20 Pieces) | Linear Switch | 3 Pin | DIY Interchangeable Switch for ...">
            <a:extLst>
              <a:ext uri="{FF2B5EF4-FFF2-40B4-BE49-F238E27FC236}">
                <a16:creationId xmlns:a16="http://schemas.microsoft.com/office/drawing/2014/main" id="{93DCF194-2EDC-6DB4-126A-0447BF5470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44083" y="4687074"/>
            <a:ext cx="2198493" cy="2198493"/>
          </a:xfrm>
          <a:prstGeom prst="rect">
            <a:avLst/>
          </a:prstGeom>
        </p:spPr>
      </p:pic>
      <p:pic>
        <p:nvPicPr>
          <p:cNvPr id="44" name="Picture 43" descr="Amazon.co.jp: OUTEMU (Gaote) Red Mechanical Key Switch (Red Axis) 20 Kets  (20 Pieces) | Linear Switch | 3 Pin | DIY Interchangeable Switch for ...">
            <a:extLst>
              <a:ext uri="{FF2B5EF4-FFF2-40B4-BE49-F238E27FC236}">
                <a16:creationId xmlns:a16="http://schemas.microsoft.com/office/drawing/2014/main" id="{CF36F30B-13E2-C0D8-08C6-E870EBF26C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96483" y="4839474"/>
            <a:ext cx="2198493" cy="2198493"/>
          </a:xfrm>
          <a:prstGeom prst="rect">
            <a:avLst/>
          </a:prstGeom>
        </p:spPr>
      </p:pic>
      <p:pic>
        <p:nvPicPr>
          <p:cNvPr id="46" name="Picture 45" descr="Amazon.co.jp: OUTEMU (Gaote) Red Mechanical Key Switch (Red Axis) 20 Kets  (20 Pieces) | Linear Switch | 3 Pin | DIY Interchangeable Switch for ...">
            <a:extLst>
              <a:ext uri="{FF2B5EF4-FFF2-40B4-BE49-F238E27FC236}">
                <a16:creationId xmlns:a16="http://schemas.microsoft.com/office/drawing/2014/main" id="{90AD7D9B-CD9F-A1F4-A59F-E0831057BA7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4515453" y="6279385"/>
            <a:ext cx="2198493" cy="2198493"/>
          </a:xfrm>
          <a:prstGeom prst="rect">
            <a:avLst/>
          </a:prstGeom>
        </p:spPr>
      </p:pic>
      <p:pic>
        <p:nvPicPr>
          <p:cNvPr id="48" name="Picture 47" descr="Amazon.co.jp: OUTEMU (Gaote) Red Mechanical Key Switch (Red Axis) 20 Kets  (20 Pieces) | Linear Switch | 3 Pin | DIY Interchangeable Switch for ...">
            <a:extLst>
              <a:ext uri="{FF2B5EF4-FFF2-40B4-BE49-F238E27FC236}">
                <a16:creationId xmlns:a16="http://schemas.microsoft.com/office/drawing/2014/main" id="{C6035ED4-A021-138F-3AD3-A158CAA31B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306011" y="-1520179"/>
            <a:ext cx="2198493" cy="2198493"/>
          </a:xfrm>
          <a:prstGeom prst="rect">
            <a:avLst/>
          </a:prstGeom>
        </p:spPr>
      </p:pic>
      <p:pic>
        <p:nvPicPr>
          <p:cNvPr id="50" name="Picture 49" descr="Amazon.co.jp: OUTEMU (Gaote) Red Mechanical Key Switch (Red Axis) 20 Kets  (20 Pieces) | Linear Switch | 3 Pin | DIY Interchangeable Switch for ...">
            <a:extLst>
              <a:ext uri="{FF2B5EF4-FFF2-40B4-BE49-F238E27FC236}">
                <a16:creationId xmlns:a16="http://schemas.microsoft.com/office/drawing/2014/main" id="{B69BAAE8-72D4-542C-5108-D8776729D3C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1673619" y="3001025"/>
            <a:ext cx="2198493" cy="2198493"/>
          </a:xfrm>
          <a:prstGeom prst="rect">
            <a:avLst/>
          </a:prstGeom>
        </p:spPr>
      </p:pic>
      <p:pic>
        <p:nvPicPr>
          <p:cNvPr id="52" name="Picture 51" descr="Amazon.co.jp: OUTEMU (Gaote) Red Mechanical Key Switch (Red Axis) 20 Kets  (20 Pieces) | Linear Switch | 3 Pin | DIY Interchangeable Switch for ...">
            <a:extLst>
              <a:ext uri="{FF2B5EF4-FFF2-40B4-BE49-F238E27FC236}">
                <a16:creationId xmlns:a16="http://schemas.microsoft.com/office/drawing/2014/main" id="{9E838F04-5828-0A75-5738-FE913A94C3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1673619" y="278467"/>
            <a:ext cx="2198493" cy="2198493"/>
          </a:xfrm>
          <a:prstGeom prst="rect">
            <a:avLst/>
          </a:prstGeom>
        </p:spPr>
      </p:pic>
      <p:pic>
        <p:nvPicPr>
          <p:cNvPr id="54" name="Picture 53" descr="Amazon.co.jp: OUTEMU (Gaote) Red Mechanical Key Switch (Red Axis) 20 Kets  (20 Pieces) | Linear Switch | 3 Pin | DIY Interchangeable Switch for ...">
            <a:extLst>
              <a:ext uri="{FF2B5EF4-FFF2-40B4-BE49-F238E27FC236}">
                <a16:creationId xmlns:a16="http://schemas.microsoft.com/office/drawing/2014/main" id="{7C53185B-A308-440A-535E-AD875E0FDF2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-1570625" y="422929"/>
            <a:ext cx="2198493" cy="2198493"/>
          </a:xfrm>
          <a:prstGeom prst="rect">
            <a:avLst/>
          </a:prstGeom>
        </p:spPr>
      </p:pic>
      <p:pic>
        <p:nvPicPr>
          <p:cNvPr id="56" name="Picture 55" descr="Amazon.co.jp: OUTEMU (Gaote) Red Mechanical Key Switch (Red Axis) 20 Kets  (20 Pieces) | Linear Switch | 3 Pin | DIY Interchangeable Switch for ...">
            <a:extLst>
              <a:ext uri="{FF2B5EF4-FFF2-40B4-BE49-F238E27FC236}">
                <a16:creationId xmlns:a16="http://schemas.microsoft.com/office/drawing/2014/main" id="{FD1F7353-B0E1-78C7-FEA5-20246A630BB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-1570626" y="2828031"/>
            <a:ext cx="2198493" cy="2198493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83B32785-2480-6790-34BE-A8FD55ADE68C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1967" t="27289" r="2916" b="19167"/>
          <a:stretch>
            <a:fillRect/>
          </a:stretch>
        </p:blipFill>
        <p:spPr>
          <a:xfrm>
            <a:off x="1567402" y="7967141"/>
            <a:ext cx="8420100" cy="4739942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E38A024E-D802-2484-0456-BE0EF9073877}"/>
              </a:ext>
            </a:extLst>
          </p:cNvPr>
          <p:cNvSpPr txBox="1"/>
          <p:nvPr/>
        </p:nvSpPr>
        <p:spPr>
          <a:xfrm>
            <a:off x="10021247" y="-4701782"/>
            <a:ext cx="752475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C</a:t>
            </a:r>
            <a:b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H</a:t>
            </a:r>
            <a:b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O</a:t>
            </a:r>
            <a:b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R</a:t>
            </a:r>
            <a:b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D</a:t>
            </a:r>
            <a:b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I</a:t>
            </a:r>
            <a:b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N</a:t>
            </a:r>
            <a:b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G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7CEAC44-6A6C-F770-0FEB-420E233CF1CD}"/>
              </a:ext>
            </a:extLst>
          </p:cNvPr>
          <p:cNvSpPr txBox="1"/>
          <p:nvPr/>
        </p:nvSpPr>
        <p:spPr>
          <a:xfrm>
            <a:off x="10937079" y="7592370"/>
            <a:ext cx="75247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S</a:t>
            </a:r>
            <a:b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Y</a:t>
            </a:r>
          </a:p>
          <a:p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S</a:t>
            </a:r>
          </a:p>
          <a:p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T</a:t>
            </a:r>
          </a:p>
          <a:p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E</a:t>
            </a:r>
          </a:p>
          <a:p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M</a:t>
            </a:r>
          </a:p>
        </p:txBody>
      </p:sp>
    </p:spTree>
    <p:extLst>
      <p:ext uri="{BB962C8B-B14F-4D97-AF65-F5344CB8AC3E}">
        <p14:creationId xmlns:p14="http://schemas.microsoft.com/office/powerpoint/2010/main" val="308370446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74910F-72EB-5B2B-5741-95DFA19D7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96E7833-EF6B-14AA-3686-DD6143C1E815}"/>
              </a:ext>
            </a:extLst>
          </p:cNvPr>
          <p:cNvSpPr txBox="1"/>
          <p:nvPr/>
        </p:nvSpPr>
        <p:spPr>
          <a:xfrm>
            <a:off x="1163373" y="216649"/>
            <a:ext cx="1239774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b="1" dirty="0">
                <a:solidFill>
                  <a:schemeClr val="bg1"/>
                </a:solidFill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Braille</a:t>
            </a:r>
            <a:r>
              <a:rPr lang="en-US" sz="9600" b="1" dirty="0">
                <a:solidFill>
                  <a:schemeClr val="bg1"/>
                </a:solidFill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 Bridge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EEACE4-FB20-80EF-C320-5044EDAA5E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-8552095" y="216649"/>
            <a:ext cx="8748578" cy="4923692"/>
          </a:xfrm>
          <a:prstGeom prst="rect">
            <a:avLst/>
          </a:prstGeom>
        </p:spPr>
      </p:pic>
      <p:pic>
        <p:nvPicPr>
          <p:cNvPr id="12" name="Picture 11" descr="ESP32 DevKitC | Free SVG">
            <a:extLst>
              <a:ext uri="{FF2B5EF4-FFF2-40B4-BE49-F238E27FC236}">
                <a16:creationId xmlns:a16="http://schemas.microsoft.com/office/drawing/2014/main" id="{6A0DADB3-A3A1-04C0-6441-40699A7A54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4360" y="9112418"/>
            <a:ext cx="3025772" cy="302577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4C42AAC0-3590-6714-BB1A-FE6283216FD3}"/>
              </a:ext>
            </a:extLst>
          </p:cNvPr>
          <p:cNvSpPr txBox="1"/>
          <p:nvPr/>
        </p:nvSpPr>
        <p:spPr>
          <a:xfrm>
            <a:off x="9550291" y="10682591"/>
            <a:ext cx="20424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ESP-32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152FEA1-43E3-CB39-DFD8-DC1B2EDE2E04}"/>
              </a:ext>
            </a:extLst>
          </p:cNvPr>
          <p:cNvSpPr txBox="1"/>
          <p:nvPr/>
        </p:nvSpPr>
        <p:spPr>
          <a:xfrm>
            <a:off x="196483" y="8651266"/>
            <a:ext cx="5925165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Custom 3d</a:t>
            </a:r>
            <a:b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Printed Shell</a:t>
            </a:r>
            <a:b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with Ergonomic</a:t>
            </a:r>
            <a:b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Design Made for</a:t>
            </a:r>
            <a:b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Flexibility </a:t>
            </a:r>
            <a:b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&amp; Scalability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5FDFFFA-0E84-A402-69DC-B932D8F77025}"/>
              </a:ext>
            </a:extLst>
          </p:cNvPr>
          <p:cNvSpPr txBox="1"/>
          <p:nvPr/>
        </p:nvSpPr>
        <p:spPr>
          <a:xfrm>
            <a:off x="1667774" y="12425258"/>
            <a:ext cx="59251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9FB6B5"/>
                </a:solidFill>
                <a:latin typeface="Bahnschrift" panose="020B0502040204020203" pitchFamily="34" charset="0"/>
              </a:rPr>
              <a:t>6 Keys to Type + Shift and Space Key</a:t>
            </a:r>
          </a:p>
        </p:txBody>
      </p:sp>
      <p:pic>
        <p:nvPicPr>
          <p:cNvPr id="21" name="Picture 20" descr="File:C++ logo.png - Wikimedia Commons">
            <a:extLst>
              <a:ext uri="{FF2B5EF4-FFF2-40B4-BE49-F238E27FC236}">
                <a16:creationId xmlns:a16="http://schemas.microsoft.com/office/drawing/2014/main" id="{CE04A0B5-56CE-5C00-62F1-0AED65EFFE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2601" y="-2420343"/>
            <a:ext cx="694645" cy="780908"/>
          </a:xfrm>
          <a:prstGeom prst="rect">
            <a:avLst/>
          </a:prstGeom>
        </p:spPr>
      </p:pic>
      <p:grpSp>
        <p:nvGrpSpPr>
          <p:cNvPr id="34" name="Group 33">
            <a:extLst>
              <a:ext uri="{FF2B5EF4-FFF2-40B4-BE49-F238E27FC236}">
                <a16:creationId xmlns:a16="http://schemas.microsoft.com/office/drawing/2014/main" id="{F7385404-0CDC-28C4-2A48-56B753537DBB}"/>
              </a:ext>
            </a:extLst>
          </p:cNvPr>
          <p:cNvGrpSpPr/>
          <p:nvPr/>
        </p:nvGrpSpPr>
        <p:grpSpPr>
          <a:xfrm>
            <a:off x="2601852" y="9197728"/>
            <a:ext cx="1014413" cy="1042595"/>
            <a:chOff x="2865336" y="2558791"/>
            <a:chExt cx="1014413" cy="1042595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9233A09-CFF5-1F7E-B290-E8DF13B90951}"/>
                </a:ext>
              </a:extLst>
            </p:cNvPr>
            <p:cNvCxnSpPr/>
            <p:nvPr/>
          </p:nvCxnSpPr>
          <p:spPr>
            <a:xfrm>
              <a:off x="2965349" y="2686986"/>
              <a:ext cx="914400" cy="91440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40C9630D-F64B-AFCA-8FD9-95383634942C}"/>
                </a:ext>
              </a:extLst>
            </p:cNvPr>
            <p:cNvSpPr/>
            <p:nvPr/>
          </p:nvSpPr>
          <p:spPr>
            <a:xfrm>
              <a:off x="2865336" y="2558791"/>
              <a:ext cx="200025" cy="21503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F6DD24AA-92C9-806C-536B-A02096B2C104}"/>
              </a:ext>
            </a:extLst>
          </p:cNvPr>
          <p:cNvSpPr txBox="1"/>
          <p:nvPr/>
        </p:nvSpPr>
        <p:spPr>
          <a:xfrm>
            <a:off x="1667773" y="11963462"/>
            <a:ext cx="59251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x8 Tactile Switches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A8BAC549-0468-A3C9-DD4D-03373E6ABCC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493" t="22605" r="7884" b="24464"/>
          <a:stretch>
            <a:fillRect/>
          </a:stretch>
        </p:blipFill>
        <p:spPr>
          <a:xfrm>
            <a:off x="18886634" y="1656483"/>
            <a:ext cx="3719864" cy="1569660"/>
          </a:xfrm>
          <a:prstGeom prst="roundRect">
            <a:avLst>
              <a:gd name="adj" fmla="val 5327"/>
            </a:avLst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0EA6A425-EDDF-F0EB-B519-71E9BEDC6CC8}"/>
              </a:ext>
            </a:extLst>
          </p:cNvPr>
          <p:cNvSpPr txBox="1"/>
          <p:nvPr/>
        </p:nvSpPr>
        <p:spPr>
          <a:xfrm>
            <a:off x="9550291" y="9578420"/>
            <a:ext cx="59251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PCB Support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30AEDC3-C294-8FFA-5F71-EAD0BBF394B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967" t="27289" r="2916" b="19167"/>
          <a:stretch>
            <a:fillRect/>
          </a:stretch>
        </p:blipFill>
        <p:spPr>
          <a:xfrm>
            <a:off x="505723" y="1720476"/>
            <a:ext cx="8420100" cy="473994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A0848F3-0658-9763-CF2B-475BFA26A552}"/>
              </a:ext>
            </a:extLst>
          </p:cNvPr>
          <p:cNvSpPr txBox="1"/>
          <p:nvPr/>
        </p:nvSpPr>
        <p:spPr>
          <a:xfrm>
            <a:off x="9563100" y="1786309"/>
            <a:ext cx="752475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C</a:t>
            </a:r>
            <a:b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H</a:t>
            </a:r>
            <a:b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O</a:t>
            </a:r>
            <a:b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R</a:t>
            </a:r>
            <a:b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D</a:t>
            </a:r>
            <a:b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I</a:t>
            </a:r>
            <a:b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N</a:t>
            </a:r>
            <a:b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G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C6A7C1D-0A32-2F9E-5C7E-63459F5455F7}"/>
              </a:ext>
            </a:extLst>
          </p:cNvPr>
          <p:cNvSpPr txBox="1"/>
          <p:nvPr/>
        </p:nvSpPr>
        <p:spPr>
          <a:xfrm>
            <a:off x="10229158" y="2287504"/>
            <a:ext cx="75247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S</a:t>
            </a:r>
            <a:b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Y</a:t>
            </a:r>
          </a:p>
          <a:p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S</a:t>
            </a:r>
          </a:p>
          <a:p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T</a:t>
            </a:r>
          </a:p>
          <a:p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E</a:t>
            </a:r>
          </a:p>
          <a:p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M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E07D7FBB-3E2B-0A23-BB3B-6F53E75ED793}"/>
              </a:ext>
            </a:extLst>
          </p:cNvPr>
          <p:cNvSpPr/>
          <p:nvPr/>
        </p:nvSpPr>
        <p:spPr>
          <a:xfrm>
            <a:off x="11105355" y="1254170"/>
            <a:ext cx="276225" cy="3143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7F5DFD8-B047-7647-C07D-5384DE25EBA5}"/>
              </a:ext>
            </a:extLst>
          </p:cNvPr>
          <p:cNvSpPr/>
          <p:nvPr/>
        </p:nvSpPr>
        <p:spPr>
          <a:xfrm>
            <a:off x="11524006" y="1719856"/>
            <a:ext cx="276225" cy="3143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0544430-B3BA-A793-81A4-77215610D0AB}"/>
              </a:ext>
            </a:extLst>
          </p:cNvPr>
          <p:cNvSpPr/>
          <p:nvPr/>
        </p:nvSpPr>
        <p:spPr>
          <a:xfrm>
            <a:off x="11055419" y="3117893"/>
            <a:ext cx="276225" cy="3143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354B52E9-976F-76E8-B235-C3F3FEA16680}"/>
              </a:ext>
            </a:extLst>
          </p:cNvPr>
          <p:cNvSpPr/>
          <p:nvPr/>
        </p:nvSpPr>
        <p:spPr>
          <a:xfrm>
            <a:off x="11454646" y="3556161"/>
            <a:ext cx="276225" cy="3143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C16A61BA-D8C1-C48A-0457-82E7FF134A85}"/>
              </a:ext>
            </a:extLst>
          </p:cNvPr>
          <p:cNvSpPr/>
          <p:nvPr/>
        </p:nvSpPr>
        <p:spPr>
          <a:xfrm>
            <a:off x="11105355" y="3995664"/>
            <a:ext cx="276225" cy="3143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61645E9C-3F57-5709-A07C-6814604449EB}"/>
              </a:ext>
            </a:extLst>
          </p:cNvPr>
          <p:cNvSpPr/>
          <p:nvPr/>
        </p:nvSpPr>
        <p:spPr>
          <a:xfrm>
            <a:off x="11548164" y="4433128"/>
            <a:ext cx="276225" cy="3143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8FDCA3AC-CDB5-CFF4-B7DF-07F4E8D12290}"/>
              </a:ext>
            </a:extLst>
          </p:cNvPr>
          <p:cNvSpPr/>
          <p:nvPr/>
        </p:nvSpPr>
        <p:spPr>
          <a:xfrm>
            <a:off x="11087139" y="2163942"/>
            <a:ext cx="276225" cy="3143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047431B2-E747-A830-AEE0-9762F5401308}"/>
              </a:ext>
            </a:extLst>
          </p:cNvPr>
          <p:cNvSpPr/>
          <p:nvPr/>
        </p:nvSpPr>
        <p:spPr>
          <a:xfrm>
            <a:off x="11454646" y="2728283"/>
            <a:ext cx="276225" cy="3143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54F3B234-400E-27DC-1B59-F5EFAE07F1E4}"/>
              </a:ext>
            </a:extLst>
          </p:cNvPr>
          <p:cNvSpPr/>
          <p:nvPr/>
        </p:nvSpPr>
        <p:spPr>
          <a:xfrm>
            <a:off x="11151362" y="4855252"/>
            <a:ext cx="276225" cy="3143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BAA93B90-DB95-97CC-BC1C-1F8127A03B6D}"/>
              </a:ext>
            </a:extLst>
          </p:cNvPr>
          <p:cNvSpPr/>
          <p:nvPr/>
        </p:nvSpPr>
        <p:spPr>
          <a:xfrm>
            <a:off x="11570013" y="5320938"/>
            <a:ext cx="276225" cy="3143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25B80DC2-2241-F257-7888-AB87974083EC}"/>
              </a:ext>
            </a:extLst>
          </p:cNvPr>
          <p:cNvSpPr/>
          <p:nvPr/>
        </p:nvSpPr>
        <p:spPr>
          <a:xfrm>
            <a:off x="11101426" y="6718975"/>
            <a:ext cx="276225" cy="3143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FA017053-69C8-1EF3-25CE-BC3218591D81}"/>
              </a:ext>
            </a:extLst>
          </p:cNvPr>
          <p:cNvSpPr/>
          <p:nvPr/>
        </p:nvSpPr>
        <p:spPr>
          <a:xfrm>
            <a:off x="11500653" y="7157243"/>
            <a:ext cx="276225" cy="3143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0346BD0F-9E1F-6C79-97BE-F6E20822D2F5}"/>
              </a:ext>
            </a:extLst>
          </p:cNvPr>
          <p:cNvSpPr/>
          <p:nvPr/>
        </p:nvSpPr>
        <p:spPr>
          <a:xfrm>
            <a:off x="11151362" y="7596746"/>
            <a:ext cx="276225" cy="3143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DD24A65B-EC53-23CA-DB00-E7D570418D06}"/>
              </a:ext>
            </a:extLst>
          </p:cNvPr>
          <p:cNvSpPr/>
          <p:nvPr/>
        </p:nvSpPr>
        <p:spPr>
          <a:xfrm>
            <a:off x="11594171" y="8034210"/>
            <a:ext cx="276225" cy="3143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63660C44-519E-998E-BA78-7BD10087D2B7}"/>
              </a:ext>
            </a:extLst>
          </p:cNvPr>
          <p:cNvSpPr/>
          <p:nvPr/>
        </p:nvSpPr>
        <p:spPr>
          <a:xfrm>
            <a:off x="11133146" y="5765024"/>
            <a:ext cx="276225" cy="3143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6558E41C-E73A-C5EC-7EA4-28CDA7F5E4BB}"/>
              </a:ext>
            </a:extLst>
          </p:cNvPr>
          <p:cNvSpPr/>
          <p:nvPr/>
        </p:nvSpPr>
        <p:spPr>
          <a:xfrm>
            <a:off x="11500653" y="6329365"/>
            <a:ext cx="276225" cy="3143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8" name="Picture 57">
            <a:extLst>
              <a:ext uri="{FF2B5EF4-FFF2-40B4-BE49-F238E27FC236}">
                <a16:creationId xmlns:a16="http://schemas.microsoft.com/office/drawing/2014/main" id="{8909E5BD-FA60-46AF-4FAD-72150B30CA5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4880" y="7343713"/>
            <a:ext cx="9894212" cy="5393530"/>
          </a:xfrm>
          <a:prstGeom prst="roundRect">
            <a:avLst>
              <a:gd name="adj" fmla="val 5202"/>
            </a:avLst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228353E2-81BE-5221-6BE2-DDABB6F53FAC}"/>
              </a:ext>
            </a:extLst>
          </p:cNvPr>
          <p:cNvSpPr txBox="1"/>
          <p:nvPr/>
        </p:nvSpPr>
        <p:spPr>
          <a:xfrm>
            <a:off x="998994" y="-983072"/>
            <a:ext cx="133752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A Purpose-Built Teacher Software</a:t>
            </a:r>
            <a:endParaRPr lang="en-US" sz="4800" b="1" dirty="0">
              <a:solidFill>
                <a:schemeClr val="bg1"/>
              </a:solidFill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173380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5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5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 nodePh="1">
                                  <p:stCondLst>
                                    <p:cond delay="500"/>
                                  </p:stCondLst>
                                  <p:endCondLst>
                                    <p:cond evt="begin" delay="0">
                                      <p:tn val="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7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7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 nodePh="1">
                                  <p:stCondLst>
                                    <p:cond delay="500"/>
                                  </p:stCondLst>
                                  <p:endCondLst>
                                    <p:cond evt="begin" delay="0">
                                      <p:tn val="1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0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0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 nodePh="1">
                                  <p:stCondLst>
                                    <p:cond delay="500"/>
                                  </p:stCondLst>
                                  <p:endCondLst>
                                    <p:cond evt="begin" delay="0">
                                      <p:tn val="2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2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2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 nodePh="1">
                                  <p:stCondLst>
                                    <p:cond delay="500"/>
                                  </p:stCondLst>
                                  <p:endCondLst>
                                    <p:cond evt="begin" delay="0">
                                      <p:tn val="3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2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 nodePh="1">
                                  <p:stCondLst>
                                    <p:cond delay="500"/>
                                  </p:stCondLst>
                                  <p:endCondLst>
                                    <p:cond evt="begin" delay="0">
                                      <p:tn val="4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4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24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 nodePh="1">
                                  <p:stCondLst>
                                    <p:cond delay="500"/>
                                  </p:stCondLst>
                                  <p:endCondLst>
                                    <p:cond evt="begin" delay="0">
                                      <p:tn val="4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28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28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grpId="0" nodeType="withEffect" nodePh="1">
                                  <p:stCondLst>
                                    <p:cond delay="500"/>
                                  </p:stCondLst>
                                  <p:endCondLst>
                                    <p:cond evt="begin" delay="0">
                                      <p:tn val="5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29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29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4" fill="hold" grpId="0" nodeType="withEffect" nodePh="1">
                                  <p:stCondLst>
                                    <p:cond delay="500"/>
                                  </p:stCondLst>
                                  <p:endCondLst>
                                    <p:cond evt="begin" delay="0">
                                      <p:tn val="6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41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41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2" presetClass="entr" presetSubtype="4" fill="hold" grpId="0" nodeType="withEffect" nodePh="1">
                                  <p:stCondLst>
                                    <p:cond delay="500"/>
                                  </p:stCondLst>
                                  <p:endCondLst>
                                    <p:cond evt="begin" delay="0">
                                      <p:tn val="7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4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4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2" presetClass="entr" presetSubtype="4" fill="hold" grpId="0" nodeType="withEffect" nodePh="1">
                                  <p:stCondLst>
                                    <p:cond delay="500"/>
                                  </p:stCondLst>
                                  <p:endCondLst>
                                    <p:cond evt="begin" delay="0">
                                      <p:tn val="8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45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45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2" presetClass="entr" presetSubtype="4" fill="hold" grpId="0" nodeType="withEffect" nodePh="1">
                                  <p:stCondLst>
                                    <p:cond delay="500"/>
                                  </p:stCondLst>
                                  <p:endCondLst>
                                    <p:cond evt="begin" delay="0">
                                      <p:tn val="8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47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47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2" presetClass="entr" presetSubtype="4" fill="hold" grpId="0" nodeType="withEffect" nodePh="1">
                                  <p:stCondLst>
                                    <p:cond delay="500"/>
                                  </p:stCondLst>
                                  <p:endCondLst>
                                    <p:cond evt="begin" delay="0">
                                      <p:tn val="9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3" dur="500" fill="hold"/>
                                        <p:tgtEl>
                                          <p:spTgt spid="49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49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2" presetClass="entr" presetSubtype="4" fill="hold" grpId="0" nodeType="withEffect" nodePh="1">
                                  <p:stCondLst>
                                    <p:cond delay="500"/>
                                  </p:stCondLst>
                                  <p:endCondLst>
                                    <p:cond evt="begin" delay="0">
                                      <p:tn val="10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500" fill="hold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" dur="500" fill="hold"/>
                                        <p:tgtEl>
                                          <p:spTgt spid="51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51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2" presetClass="entr" presetSubtype="4" fill="hold" grpId="0" nodeType="withEffect" nodePh="1">
                                  <p:stCondLst>
                                    <p:cond delay="500"/>
                                  </p:stCondLst>
                                  <p:endCondLst>
                                    <p:cond evt="begin" delay="0">
                                      <p:tn val="11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5" dur="500" fill="hold"/>
                                        <p:tgtEl>
                                          <p:spTgt spid="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6" dur="500" fill="hold"/>
                                        <p:tgtEl>
                                          <p:spTgt spid="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9" dur="500" fill="hold"/>
                                        <p:tgtEl>
                                          <p:spTgt spid="5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0" dur="500" fill="hold"/>
                                        <p:tgtEl>
                                          <p:spTgt spid="5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2" presetClass="entr" presetSubtype="4" fill="hold" grpId="0" nodeType="withEffect" nodePh="1">
                                  <p:stCondLst>
                                    <p:cond delay="500"/>
                                  </p:stCondLst>
                                  <p:endCondLst>
                                    <p:cond evt="begin" delay="0">
                                      <p:tn val="12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3" dur="500" fill="hold"/>
                                        <p:tgtEl>
                                          <p:spTgt spid="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4" dur="500" fill="hold"/>
                                        <p:tgtEl>
                                          <p:spTgt spid="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7" dur="500" fill="hold"/>
                                        <p:tgtEl>
                                          <p:spTgt spid="55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8" dur="500" fill="hold"/>
                                        <p:tgtEl>
                                          <p:spTgt spid="55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2" presetClass="entr" presetSubtype="4" fill="hold" grpId="0" nodeType="withEffect" nodePh="1">
                                  <p:stCondLst>
                                    <p:cond delay="500"/>
                                  </p:stCondLst>
                                  <p:endCondLst>
                                    <p:cond evt="begin" delay="0">
                                      <p:tn val="12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1" dur="5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2" dur="5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build="allAtOnce" animBg="1"/>
      <p:bldP spid="17" grpId="0" build="allAtOnce" animBg="1"/>
      <p:bldP spid="20" grpId="0" build="allAtOnce" animBg="1"/>
      <p:bldP spid="22" grpId="0" build="allAtOnce" animBg="1"/>
      <p:bldP spid="23" grpId="0" build="allAtOnce" animBg="1"/>
      <p:bldP spid="24" grpId="0" build="allAtOnce" animBg="1"/>
      <p:bldP spid="28" grpId="0" build="allAtOnce" animBg="1"/>
      <p:bldP spid="29" grpId="0" build="allAtOnce" animBg="1"/>
      <p:bldP spid="41" grpId="0" build="allAtOnce" animBg="1"/>
      <p:bldP spid="43" grpId="0" build="allAtOnce" animBg="1"/>
      <p:bldP spid="45" grpId="0" build="allAtOnce" animBg="1"/>
      <p:bldP spid="47" grpId="0" build="allAtOnce" animBg="1"/>
      <p:bldP spid="49" grpId="0" build="allAtOnce" animBg="1"/>
      <p:bldP spid="51" grpId="0" build="allAtOnce" animBg="1"/>
      <p:bldP spid="53" grpId="0" build="allAtOnce" animBg="1"/>
      <p:bldP spid="55" grpId="0" build="allAtOnce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6ECDAC-FC21-E468-F591-40FB05D0B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D1EC042-8CD8-00E2-336F-AF7926C651F8}"/>
              </a:ext>
            </a:extLst>
          </p:cNvPr>
          <p:cNvSpPr txBox="1"/>
          <p:nvPr/>
        </p:nvSpPr>
        <p:spPr>
          <a:xfrm>
            <a:off x="1159830" y="237140"/>
            <a:ext cx="133752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A Purpose-Built Teacher Software</a:t>
            </a:r>
            <a:endParaRPr lang="en-US" sz="4800" b="1" dirty="0">
              <a:solidFill>
                <a:schemeClr val="bg1"/>
              </a:solidFill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28190E2-97C7-6150-3AE1-6D7298181C7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67" t="27289" r="2916" b="19167"/>
          <a:stretch>
            <a:fillRect/>
          </a:stretch>
        </p:blipFill>
        <p:spPr>
          <a:xfrm>
            <a:off x="321604" y="7356234"/>
            <a:ext cx="8420100" cy="473994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52B8E32-22AD-FB96-C103-0528A20A61C8}"/>
              </a:ext>
            </a:extLst>
          </p:cNvPr>
          <p:cNvSpPr txBox="1"/>
          <p:nvPr/>
        </p:nvSpPr>
        <p:spPr>
          <a:xfrm>
            <a:off x="9656885" y="-5013075"/>
            <a:ext cx="752475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C</a:t>
            </a:r>
            <a:b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H</a:t>
            </a:r>
            <a:b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O</a:t>
            </a:r>
            <a:b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R</a:t>
            </a:r>
            <a:b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D</a:t>
            </a:r>
            <a:b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I</a:t>
            </a:r>
            <a:b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N</a:t>
            </a:r>
            <a:b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G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17B4DE7-254C-0760-3BEA-39467610292B}"/>
              </a:ext>
            </a:extLst>
          </p:cNvPr>
          <p:cNvSpPr txBox="1"/>
          <p:nvPr/>
        </p:nvSpPr>
        <p:spPr>
          <a:xfrm>
            <a:off x="10651190" y="7832720"/>
            <a:ext cx="75247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S</a:t>
            </a:r>
            <a:b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Y</a:t>
            </a:r>
          </a:p>
          <a:p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S</a:t>
            </a:r>
          </a:p>
          <a:p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T</a:t>
            </a:r>
          </a:p>
          <a:p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E</a:t>
            </a:r>
          </a:p>
          <a:p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M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A69AAADF-82AC-0951-44A8-4CD0578CC97B}"/>
              </a:ext>
            </a:extLst>
          </p:cNvPr>
          <p:cNvSpPr/>
          <p:nvPr/>
        </p:nvSpPr>
        <p:spPr>
          <a:xfrm>
            <a:off x="12934184" y="261869"/>
            <a:ext cx="276225" cy="3143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CC5190B-29A7-3E5E-7BE6-33C14341058D}"/>
              </a:ext>
            </a:extLst>
          </p:cNvPr>
          <p:cNvSpPr/>
          <p:nvPr/>
        </p:nvSpPr>
        <p:spPr>
          <a:xfrm>
            <a:off x="13352835" y="727555"/>
            <a:ext cx="276225" cy="3143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E6262F9-B163-7AEB-8EC1-66FDC84DC741}"/>
              </a:ext>
            </a:extLst>
          </p:cNvPr>
          <p:cNvSpPr/>
          <p:nvPr/>
        </p:nvSpPr>
        <p:spPr>
          <a:xfrm>
            <a:off x="12884248" y="2125592"/>
            <a:ext cx="276225" cy="3143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453DF0A7-B9F2-2CBD-10A3-B630EB99B6CB}"/>
              </a:ext>
            </a:extLst>
          </p:cNvPr>
          <p:cNvSpPr/>
          <p:nvPr/>
        </p:nvSpPr>
        <p:spPr>
          <a:xfrm>
            <a:off x="13283475" y="2563860"/>
            <a:ext cx="276225" cy="3143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08CBC873-AE6B-2EF2-CE36-EE30FD4E7DBF}"/>
              </a:ext>
            </a:extLst>
          </p:cNvPr>
          <p:cNvSpPr/>
          <p:nvPr/>
        </p:nvSpPr>
        <p:spPr>
          <a:xfrm>
            <a:off x="12934184" y="3003363"/>
            <a:ext cx="276225" cy="3143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7757C3BE-40D0-80CB-BBAD-F3A209A9D865}"/>
              </a:ext>
            </a:extLst>
          </p:cNvPr>
          <p:cNvSpPr/>
          <p:nvPr/>
        </p:nvSpPr>
        <p:spPr>
          <a:xfrm>
            <a:off x="13376993" y="3440827"/>
            <a:ext cx="276225" cy="3143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C78402C1-AC68-52B0-6C7B-730F75B42162}"/>
              </a:ext>
            </a:extLst>
          </p:cNvPr>
          <p:cNvSpPr/>
          <p:nvPr/>
        </p:nvSpPr>
        <p:spPr>
          <a:xfrm>
            <a:off x="12915968" y="1171641"/>
            <a:ext cx="276225" cy="3143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B4516A8C-15B2-AEBB-D9BB-14F854E60C16}"/>
              </a:ext>
            </a:extLst>
          </p:cNvPr>
          <p:cNvSpPr/>
          <p:nvPr/>
        </p:nvSpPr>
        <p:spPr>
          <a:xfrm>
            <a:off x="13283475" y="1735982"/>
            <a:ext cx="276225" cy="3143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F23F1D03-7560-8725-5821-66902B4FE304}"/>
              </a:ext>
            </a:extLst>
          </p:cNvPr>
          <p:cNvSpPr/>
          <p:nvPr/>
        </p:nvSpPr>
        <p:spPr>
          <a:xfrm>
            <a:off x="12980191" y="3862951"/>
            <a:ext cx="276225" cy="3143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32A85444-24E1-7D01-62F1-848948B797CE}"/>
              </a:ext>
            </a:extLst>
          </p:cNvPr>
          <p:cNvSpPr/>
          <p:nvPr/>
        </p:nvSpPr>
        <p:spPr>
          <a:xfrm>
            <a:off x="13398842" y="4328637"/>
            <a:ext cx="276225" cy="3143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496367A8-E364-FC0D-676C-8B54E027346A}"/>
              </a:ext>
            </a:extLst>
          </p:cNvPr>
          <p:cNvSpPr/>
          <p:nvPr/>
        </p:nvSpPr>
        <p:spPr>
          <a:xfrm>
            <a:off x="12930255" y="5726674"/>
            <a:ext cx="276225" cy="3143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57060A86-1A22-D9B8-D102-50F604234061}"/>
              </a:ext>
            </a:extLst>
          </p:cNvPr>
          <p:cNvSpPr/>
          <p:nvPr/>
        </p:nvSpPr>
        <p:spPr>
          <a:xfrm>
            <a:off x="13329482" y="6164942"/>
            <a:ext cx="276225" cy="3143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D0171C09-E32A-BAF3-74E5-75D93F1F26EF}"/>
              </a:ext>
            </a:extLst>
          </p:cNvPr>
          <p:cNvSpPr/>
          <p:nvPr/>
        </p:nvSpPr>
        <p:spPr>
          <a:xfrm>
            <a:off x="12980191" y="6604445"/>
            <a:ext cx="276225" cy="3143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5FE17C7D-4B1F-1AAE-4B8B-3EC114186602}"/>
              </a:ext>
            </a:extLst>
          </p:cNvPr>
          <p:cNvSpPr/>
          <p:nvPr/>
        </p:nvSpPr>
        <p:spPr>
          <a:xfrm>
            <a:off x="13423000" y="7041909"/>
            <a:ext cx="276225" cy="3143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FB186A61-5A02-BBBC-A309-82221B5162C1}"/>
              </a:ext>
            </a:extLst>
          </p:cNvPr>
          <p:cNvSpPr/>
          <p:nvPr/>
        </p:nvSpPr>
        <p:spPr>
          <a:xfrm>
            <a:off x="12961975" y="4772723"/>
            <a:ext cx="276225" cy="3143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337B550F-65DB-5ED5-A222-5F5E10011393}"/>
              </a:ext>
            </a:extLst>
          </p:cNvPr>
          <p:cNvSpPr/>
          <p:nvPr/>
        </p:nvSpPr>
        <p:spPr>
          <a:xfrm>
            <a:off x="13329482" y="5337064"/>
            <a:ext cx="276225" cy="3143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D0DF89F8-008E-A043-1DB1-6B51AC9A2F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2833" y="1085737"/>
            <a:ext cx="9894212" cy="5393530"/>
          </a:xfrm>
          <a:prstGeom prst="roundRect">
            <a:avLst>
              <a:gd name="adj" fmla="val 5202"/>
            </a:avLst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C160C89A-D574-95F9-3B8D-1AC3F5FD2C8F}"/>
              </a:ext>
            </a:extLst>
          </p:cNvPr>
          <p:cNvSpPr txBox="1"/>
          <p:nvPr/>
        </p:nvSpPr>
        <p:spPr>
          <a:xfrm>
            <a:off x="1161960" y="-1611603"/>
            <a:ext cx="1239774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b="1" dirty="0">
                <a:solidFill>
                  <a:schemeClr val="bg1"/>
                </a:solidFill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Braille</a:t>
            </a:r>
            <a:r>
              <a:rPr lang="en-US" sz="9600" b="1" dirty="0">
                <a:solidFill>
                  <a:schemeClr val="bg1"/>
                </a:solidFill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 Bridge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0665C49-FF3D-D49E-97E4-F2E24EA1A04F}"/>
              </a:ext>
            </a:extLst>
          </p:cNvPr>
          <p:cNvSpPr txBox="1"/>
          <p:nvPr/>
        </p:nvSpPr>
        <p:spPr>
          <a:xfrm>
            <a:off x="14279880" y="1681071"/>
            <a:ext cx="5698603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 err="1">
                <a:solidFill>
                  <a:schemeClr val="bg1"/>
                </a:solidFill>
              </a:rPr>
              <a:t>BrailleBridge</a:t>
            </a:r>
            <a:r>
              <a:rPr lang="en-US" sz="3600" b="1" dirty="0">
                <a:solidFill>
                  <a:schemeClr val="bg1"/>
                </a:solidFill>
              </a:rPr>
              <a:t> </a:t>
            </a:r>
            <a:r>
              <a:rPr lang="en-US" sz="3600" b="1" dirty="0">
                <a:highlight>
                  <a:srgbClr val="FFFF00"/>
                </a:highlight>
              </a:rPr>
              <a:t>does not replace Braille.</a:t>
            </a:r>
            <a:r>
              <a:rPr lang="en-US" sz="3600" b="1" dirty="0"/>
              <a:t> </a:t>
            </a:r>
            <a:r>
              <a:rPr lang="en-US" sz="3600" b="1" dirty="0">
                <a:solidFill>
                  <a:schemeClr val="bg1"/>
                </a:solidFill>
              </a:rPr>
              <a:t>It protects Braille as the student's natural writing method while </a:t>
            </a:r>
            <a:r>
              <a:rPr lang="en-US" sz="3600" b="1" dirty="0">
                <a:solidFill>
                  <a:schemeClr val="bg1"/>
                </a:solidFill>
                <a:highlight>
                  <a:srgbClr val="0000FF"/>
                </a:highlight>
              </a:rPr>
              <a:t>removing the barrier</a:t>
            </a:r>
            <a:r>
              <a:rPr lang="en-US" sz="3600" b="1" dirty="0">
                <a:solidFill>
                  <a:schemeClr val="bg1"/>
                </a:solidFill>
              </a:rPr>
              <a:t> between Braille input and teacher-readable output.</a:t>
            </a:r>
            <a:endParaRPr lang="en-US" sz="3600" dirty="0">
              <a:solidFill>
                <a:schemeClr val="bg1"/>
              </a:solidFill>
            </a:endParaRP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44540ED0-F49D-74CA-79AD-4FB5411B77B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2833" y="7356234"/>
            <a:ext cx="4317168" cy="5096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340576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5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5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 nodePh="1">
                                  <p:stCondLst>
                                    <p:cond delay="500"/>
                                  </p:stCondLst>
                                  <p:endCondLst>
                                    <p:cond evt="begin" delay="0">
                                      <p:tn val="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7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7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 nodePh="1">
                                  <p:stCondLst>
                                    <p:cond delay="500"/>
                                  </p:stCondLst>
                                  <p:endCondLst>
                                    <p:cond evt="begin" delay="0">
                                      <p:tn val="1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0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0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 nodePh="1">
                                  <p:stCondLst>
                                    <p:cond delay="500"/>
                                  </p:stCondLst>
                                  <p:endCondLst>
                                    <p:cond evt="begin" delay="0">
                                      <p:tn val="2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2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2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 nodePh="1">
                                  <p:stCondLst>
                                    <p:cond delay="500"/>
                                  </p:stCondLst>
                                  <p:endCondLst>
                                    <p:cond evt="begin" delay="0">
                                      <p:tn val="3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2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 nodePh="1">
                                  <p:stCondLst>
                                    <p:cond delay="500"/>
                                  </p:stCondLst>
                                  <p:endCondLst>
                                    <p:cond evt="begin" delay="0">
                                      <p:tn val="4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4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24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 nodePh="1">
                                  <p:stCondLst>
                                    <p:cond delay="500"/>
                                  </p:stCondLst>
                                  <p:endCondLst>
                                    <p:cond evt="begin" delay="0">
                                      <p:tn val="4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28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28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grpId="0" nodeType="withEffect" nodePh="1">
                                  <p:stCondLst>
                                    <p:cond delay="500"/>
                                  </p:stCondLst>
                                  <p:endCondLst>
                                    <p:cond evt="begin" delay="0">
                                      <p:tn val="5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29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29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4" fill="hold" grpId="0" nodeType="withEffect" nodePh="1">
                                  <p:stCondLst>
                                    <p:cond delay="500"/>
                                  </p:stCondLst>
                                  <p:endCondLst>
                                    <p:cond evt="begin" delay="0">
                                      <p:tn val="6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41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41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2" presetClass="entr" presetSubtype="4" fill="hold" grpId="0" nodeType="withEffect" nodePh="1">
                                  <p:stCondLst>
                                    <p:cond delay="500"/>
                                  </p:stCondLst>
                                  <p:endCondLst>
                                    <p:cond evt="begin" delay="0">
                                      <p:tn val="7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4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4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2" presetClass="entr" presetSubtype="4" fill="hold" grpId="0" nodeType="withEffect" nodePh="1">
                                  <p:stCondLst>
                                    <p:cond delay="500"/>
                                  </p:stCondLst>
                                  <p:endCondLst>
                                    <p:cond evt="begin" delay="0">
                                      <p:tn val="8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45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45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2" presetClass="entr" presetSubtype="4" fill="hold" grpId="0" nodeType="withEffect" nodePh="1">
                                  <p:stCondLst>
                                    <p:cond delay="500"/>
                                  </p:stCondLst>
                                  <p:endCondLst>
                                    <p:cond evt="begin" delay="0">
                                      <p:tn val="8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47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47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2" presetClass="entr" presetSubtype="4" fill="hold" grpId="0" nodeType="withEffect" nodePh="1">
                                  <p:stCondLst>
                                    <p:cond delay="500"/>
                                  </p:stCondLst>
                                  <p:endCondLst>
                                    <p:cond evt="begin" delay="0">
                                      <p:tn val="9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3" dur="500" fill="hold"/>
                                        <p:tgtEl>
                                          <p:spTgt spid="49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49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2" presetClass="entr" presetSubtype="4" fill="hold" grpId="0" nodeType="withEffect" nodePh="1">
                                  <p:stCondLst>
                                    <p:cond delay="500"/>
                                  </p:stCondLst>
                                  <p:endCondLst>
                                    <p:cond evt="begin" delay="0">
                                      <p:tn val="10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500" fill="hold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" dur="500" fill="hold"/>
                                        <p:tgtEl>
                                          <p:spTgt spid="51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51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2" presetClass="entr" presetSubtype="4" fill="hold" grpId="0" nodeType="withEffect" nodePh="1">
                                  <p:stCondLst>
                                    <p:cond delay="500"/>
                                  </p:stCondLst>
                                  <p:endCondLst>
                                    <p:cond evt="begin" delay="0">
                                      <p:tn val="11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5" dur="500" fill="hold"/>
                                        <p:tgtEl>
                                          <p:spTgt spid="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6" dur="500" fill="hold"/>
                                        <p:tgtEl>
                                          <p:spTgt spid="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9" dur="500" fill="hold"/>
                                        <p:tgtEl>
                                          <p:spTgt spid="5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0" dur="500" fill="hold"/>
                                        <p:tgtEl>
                                          <p:spTgt spid="5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2" presetClass="entr" presetSubtype="4" fill="hold" grpId="0" nodeType="withEffect" nodePh="1">
                                  <p:stCondLst>
                                    <p:cond delay="500"/>
                                  </p:stCondLst>
                                  <p:endCondLst>
                                    <p:cond evt="begin" delay="0">
                                      <p:tn val="12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3" dur="500" fill="hold"/>
                                        <p:tgtEl>
                                          <p:spTgt spid="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4" dur="500" fill="hold"/>
                                        <p:tgtEl>
                                          <p:spTgt spid="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7" dur="500" fill="hold"/>
                                        <p:tgtEl>
                                          <p:spTgt spid="55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8" dur="500" fill="hold"/>
                                        <p:tgtEl>
                                          <p:spTgt spid="55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2" presetClass="entr" presetSubtype="4" fill="hold" grpId="0" nodeType="withEffect" nodePh="1">
                                  <p:stCondLst>
                                    <p:cond delay="500"/>
                                  </p:stCondLst>
                                  <p:endCondLst>
                                    <p:cond evt="begin" delay="0">
                                      <p:tn val="12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1" dur="5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2" dur="5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build="allAtOnce" animBg="1"/>
      <p:bldP spid="17" grpId="0" build="allAtOnce" animBg="1"/>
      <p:bldP spid="20" grpId="0" build="allAtOnce" animBg="1"/>
      <p:bldP spid="22" grpId="0" build="allAtOnce" animBg="1"/>
      <p:bldP spid="23" grpId="0" build="allAtOnce" animBg="1"/>
      <p:bldP spid="24" grpId="0" build="allAtOnce" animBg="1"/>
      <p:bldP spid="28" grpId="0" build="allAtOnce" animBg="1"/>
      <p:bldP spid="29" grpId="0" build="allAtOnce" animBg="1"/>
      <p:bldP spid="41" grpId="0" build="allAtOnce" animBg="1"/>
      <p:bldP spid="43" grpId="0" build="allAtOnce" animBg="1"/>
      <p:bldP spid="45" grpId="0" build="allAtOnce" animBg="1"/>
      <p:bldP spid="47" grpId="0" build="allAtOnce" animBg="1"/>
      <p:bldP spid="49" grpId="0" build="allAtOnce" animBg="1"/>
      <p:bldP spid="51" grpId="0" build="allAtOnce" animBg="1"/>
      <p:bldP spid="53" grpId="0" build="allAtOnce" animBg="1"/>
      <p:bldP spid="55" grpId="0" build="allAtOnce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296A51-7CD6-E7B1-328C-57A1241B7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118AB4AE-1129-6278-2F90-2EC99EDA2835}"/>
              </a:ext>
            </a:extLst>
          </p:cNvPr>
          <p:cNvSpPr txBox="1"/>
          <p:nvPr/>
        </p:nvSpPr>
        <p:spPr>
          <a:xfrm>
            <a:off x="1443314" y="192190"/>
            <a:ext cx="1239774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b="1" dirty="0">
                <a:solidFill>
                  <a:schemeClr val="bg1"/>
                </a:solidFill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Braille</a:t>
            </a:r>
            <a:r>
              <a:rPr lang="en-US" sz="9600" b="1" dirty="0">
                <a:solidFill>
                  <a:schemeClr val="bg1"/>
                </a:solidFill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 Bridge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82E4E11-2232-5CFB-0783-94751CF1A4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1074" y="1761850"/>
            <a:ext cx="4317168" cy="50961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325397A-15D3-2B53-14EA-CB20E051D38D}"/>
              </a:ext>
            </a:extLst>
          </p:cNvPr>
          <p:cNvSpPr txBox="1"/>
          <p:nvPr/>
        </p:nvSpPr>
        <p:spPr>
          <a:xfrm>
            <a:off x="6096000" y="2081778"/>
            <a:ext cx="5698603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 err="1">
                <a:solidFill>
                  <a:schemeClr val="bg1"/>
                </a:solidFill>
              </a:rPr>
              <a:t>BrailleBridge</a:t>
            </a:r>
            <a:r>
              <a:rPr lang="en-US" sz="3600" b="1" dirty="0">
                <a:solidFill>
                  <a:schemeClr val="bg1"/>
                </a:solidFill>
              </a:rPr>
              <a:t> </a:t>
            </a:r>
            <a:r>
              <a:rPr lang="en-US" sz="3600" b="1" dirty="0">
                <a:highlight>
                  <a:srgbClr val="FFFF00"/>
                </a:highlight>
              </a:rPr>
              <a:t>does not replace Braille.</a:t>
            </a:r>
            <a:r>
              <a:rPr lang="en-US" sz="3600" b="1" dirty="0"/>
              <a:t> </a:t>
            </a:r>
            <a:r>
              <a:rPr lang="en-US" sz="3600" b="1" dirty="0">
                <a:solidFill>
                  <a:schemeClr val="bg1"/>
                </a:solidFill>
              </a:rPr>
              <a:t>It protects Braille as the student's natural writing method while </a:t>
            </a:r>
            <a:r>
              <a:rPr lang="en-US" sz="3600" b="1" dirty="0">
                <a:solidFill>
                  <a:schemeClr val="bg1"/>
                </a:solidFill>
                <a:highlight>
                  <a:srgbClr val="0000FF"/>
                </a:highlight>
              </a:rPr>
              <a:t>removing the barrier</a:t>
            </a:r>
            <a:r>
              <a:rPr lang="en-US" sz="3600" b="1" dirty="0">
                <a:solidFill>
                  <a:schemeClr val="bg1"/>
                </a:solidFill>
              </a:rPr>
              <a:t> between Braille input and teacher-readable output.</a:t>
            </a:r>
            <a:endParaRPr lang="en-US" sz="3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336910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371</Words>
  <Application>Microsoft Office PowerPoint</Application>
  <PresentationFormat>Widescreen</PresentationFormat>
  <Paragraphs>64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Aptos</vt:lpstr>
      <vt:lpstr>Aptos Display</vt:lpstr>
      <vt:lpstr>Arial</vt:lpstr>
      <vt:lpstr>Bahnschrift</vt:lpstr>
      <vt:lpstr>Cascadia Code</vt:lpstr>
      <vt:lpstr>Cascadia 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Power User</dc:creator>
  <cp:lastModifiedBy>Power User</cp:lastModifiedBy>
  <cp:revision>2</cp:revision>
  <dcterms:created xsi:type="dcterms:W3CDTF">2026-08-03T16:33:33Z</dcterms:created>
  <dcterms:modified xsi:type="dcterms:W3CDTF">2026-08-04T15:02:24Z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2026-08-04T15:02:18Z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b02c31a8-0e12-4553-91e9-7eb2e400e662</vt:lpwstr>
  </property>
  <property fmtid="{D5CDD505-2E9C-101B-9397-08002B2CF9AE}" pid="7" name="MSIP_Label_defa4170-0d19-0005-0004-bc88714345d2_ActionId">
    <vt:lpwstr>86154095-bedb-4d4e-9ac1-b1852a24ec28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
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FF2A"/>
    <a:srgbClr val="9FB6B5"/>
    <a:srgbClr val="CDC5C0"/>
    <a:srgbClr val="5C9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894" y="13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A1333-487A-4F97-8071-8E277178E7B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BE89-D012-4A67-83D4-3D6312619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3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4BE89-D012-4A67-83D4-3D63126193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0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D12D-9BE9-39DE-3771-15A2EDBC5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B6BF5-4CF4-AC39-1E04-47BBEFD84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BA2A-E058-51D5-4EB5-FDCD25D8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17CF4-C524-9797-C5B1-1A8AFCCF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571E1-A82E-4E1E-C868-860C9BF4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1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0AC5-31C3-A10E-5FE7-3FBBD855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119F9-E28B-A77F-A5CA-83DD59768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832B-7682-7653-4EDF-D3D87EF1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5C612-1070-61B1-8585-EC90CCA11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520CD-ED2F-4E3A-E5F4-C45DDB98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4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1540-25F5-FBF4-5418-612464F5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99DE9-E1E1-106E-0532-6B2638431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877FA-15E1-2A0D-88BF-AAFCEBDB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643B0-FB55-DA95-8E88-A290707A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2C9F5-326C-D5EB-D482-D6F2C3F1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7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0C2F-665E-7688-C9BC-67F91AF7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B25F-EBEF-F6E4-7EF4-86C76389E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8AAF2-E8C1-A93B-61F8-A5BED9C8D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9DFAC-9E96-2B1D-F936-05A4612F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86788-6FD6-191F-755B-82D319451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FF7E0-949D-8E71-A585-CA4A9DC6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5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5190-6A40-A32E-2D26-FE7DAEF1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9C5AC-D1F5-4397-E64C-CD0F631E8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5E8FC-2E14-C8C4-6254-F6E424AF8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F2C76C-09BD-9DB8-18B1-F2753FAA1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8CA91-AFDC-949F-2372-E8DD2C0EB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747960-C35E-5EC8-9AED-7D5BE4DE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B8201F-309A-2153-EBCD-40DD6229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A934A5-95C3-B721-9AFB-AE7CA86A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5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FCC7-7FCA-7565-21BE-10AA5CF11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D9540-6D04-3BAD-727D-063A823A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C7887-66E2-0687-CE0B-B4084ABA3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6ECDD-B341-75E4-140C-3E5B317A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5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8A9E8E-5FC7-ACDF-1B04-B33B5971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7630F-7EA6-A609-CE5D-52801501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9EEBD-F817-31BC-786B-088753A0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316E-21AB-D33F-4B0F-CBCD10D2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A5F2-D89D-CED0-E096-4E02F763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A82AA-7151-97D6-36E3-479B831CA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C1052-6CBC-D655-D522-117AAFC7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33AF5-3955-2C7E-CABD-C81AC43B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BEEB2-A36E-25BA-EF7C-AF3C54E5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10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417B-0BF2-5FE3-E9D5-3A48A4EE6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79696-DEF6-ADBA-5C93-20EEBDB3F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55AD5-9552-AF9B-D4EE-E24C1070C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6C2FE-F3AB-D2F0-5EBE-4D98A772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65159-FA0B-6F5A-1A12-B848D5824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A937-9579-10CF-F4AD-4DB9013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2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CC6A-68AB-2D19-7A0C-E6EB7074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DEAD7-B240-F7FC-D6DD-08341A9F1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FA708-012B-51CE-DE21-974A3A8F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4B7D3-150D-23C0-3C6C-DC58903D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1852-00FD-B8A7-7522-CDF0EE90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2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D4938-3A54-1210-A70B-D28A6D90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145BF-42C8-4E44-4D24-991736886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708B0-F068-D9C2-D6C0-DD6E0DB7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82E43-CF07-418A-857D-3FD27C5E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A10AE-C8D2-990F-AE68-D7EE2B8E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8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A8C26-B009-F59A-F77C-E7036F45A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111FE-17E0-649D-236B-D6EF8ECA3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51D32-77BE-296F-5B20-AF0EA5793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C4D42-9317-4349-AC75-E24A1F22A0E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1E81F-B10F-E7DF-32C0-6E3A268EE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BAC95-D79A-59D1-3D08-38F81FCE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090B4-E338-402E-8246-61F0247AD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0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3ACE5A-9FC2-ABA3-A159-D0B5A761A3A5}"/>
              </a:ext>
            </a:extLst>
          </p:cNvPr>
          <p:cNvSpPr txBox="1"/>
          <p:nvPr/>
        </p:nvSpPr>
        <p:spPr>
          <a:xfrm>
            <a:off x="1226261" y="2285814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BC86E-F3FC-E3D6-A4F2-24D87D0E5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20" y="1567482"/>
            <a:ext cx="12192000" cy="54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97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87958-C4F4-F72C-EA6D-88F8CC54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4028E5-F5C8-937A-7E66-19F95E9BC709}"/>
              </a:ext>
            </a:extLst>
          </p:cNvPr>
          <p:cNvSpPr txBox="1"/>
          <p:nvPr/>
        </p:nvSpPr>
        <p:spPr>
          <a:xfrm>
            <a:off x="1226261" y="662279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785E3-FC90-CEA4-B1CD-CDEBDD070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109"/>
            <a:ext cx="12192000" cy="54955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C85C29-DFA4-48E8-59F9-86D87B490F74}"/>
              </a:ext>
            </a:extLst>
          </p:cNvPr>
          <p:cNvSpPr txBox="1"/>
          <p:nvPr/>
        </p:nvSpPr>
        <p:spPr>
          <a:xfrm>
            <a:off x="4192074" y="7395478"/>
            <a:ext cx="6466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4800" b="1" dirty="0"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Low-Cost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800" b="1" dirty="0">
                <a:solidFill>
                  <a:schemeClr val="bg1"/>
                </a:solidFill>
                <a:highlight>
                  <a:srgbClr val="FF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Bilingual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Braille Writing </a:t>
            </a:r>
            <a:r>
              <a:rPr lang="en-US" sz="4800" b="1" dirty="0">
                <a:highlight>
                  <a:srgbClr val="00FFFF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262569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C1EFF-C15B-08A1-1247-97E2D8B4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09F71-979C-D819-1DB3-BF48ECCA1B28}"/>
              </a:ext>
            </a:extLst>
          </p:cNvPr>
          <p:cNvSpPr txBox="1"/>
          <p:nvPr/>
        </p:nvSpPr>
        <p:spPr>
          <a:xfrm>
            <a:off x="4580747" y="2465338"/>
            <a:ext cx="6466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4800" b="1" dirty="0"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Low-Cost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800" b="1" dirty="0">
                <a:solidFill>
                  <a:schemeClr val="bg1"/>
                </a:solidFill>
                <a:highlight>
                  <a:srgbClr val="FF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Bilingual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Braille Writing </a:t>
            </a:r>
            <a:r>
              <a:rPr lang="en-US" sz="4800" b="1" dirty="0">
                <a:highlight>
                  <a:srgbClr val="00FFFF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12CBC-A44D-24C8-96DC-D6C6BEC90E61}"/>
              </a:ext>
            </a:extLst>
          </p:cNvPr>
          <p:cNvSpPr txBox="1"/>
          <p:nvPr/>
        </p:nvSpPr>
        <p:spPr>
          <a:xfrm>
            <a:off x="1282245" y="326377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77168-BAF1-A345-342E-2998C3702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0443" y="2284328"/>
            <a:ext cx="12192000" cy="5495537"/>
          </a:xfrm>
          <a:prstGeom prst="rect">
            <a:avLst/>
          </a:prstGeom>
        </p:spPr>
      </p:pic>
      <p:pic>
        <p:nvPicPr>
          <p:cNvPr id="4" name="Picture 3" descr="Handframe/Slate and Stylus">
            <a:extLst>
              <a:ext uri="{FF2B5EF4-FFF2-40B4-BE49-F238E27FC236}">
                <a16:creationId xmlns:a16="http://schemas.microsoft.com/office/drawing/2014/main" id="{B5663D42-2089-E457-75E1-6C955376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289560" y="7960875"/>
            <a:ext cx="5445254" cy="5272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6C6495-5EC5-490A-BECC-31C479EC31C6}"/>
              </a:ext>
            </a:extLst>
          </p:cNvPr>
          <p:cNvSpPr txBox="1"/>
          <p:nvPr/>
        </p:nvSpPr>
        <p:spPr>
          <a:xfrm>
            <a:off x="14161627" y="2003673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5C9493"/>
                </a:solidFill>
                <a:latin typeface="Bahnschrift" panose="020B0502040204020203" pitchFamily="34" charset="0"/>
              </a:rPr>
              <a:t>Slate &amp; Stylus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52489-91BF-CCE3-8CE2-677E0E227DAF}"/>
              </a:ext>
            </a:extLst>
          </p:cNvPr>
          <p:cNvSpPr/>
          <p:nvPr/>
        </p:nvSpPr>
        <p:spPr>
          <a:xfrm>
            <a:off x="5708795" y="-3791478"/>
            <a:ext cx="152400" cy="2862322"/>
          </a:xfrm>
          <a:prstGeom prst="rect">
            <a:avLst/>
          </a:prstGeom>
          <a:solidFill>
            <a:srgbClr val="5C9493"/>
          </a:solidFill>
          <a:ln>
            <a:solidFill>
              <a:srgbClr val="5C9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1EE41C-E409-9B9B-8FE5-07275C826670}"/>
              </a:ext>
            </a:extLst>
          </p:cNvPr>
          <p:cNvSpPr txBox="1"/>
          <p:nvPr/>
        </p:nvSpPr>
        <p:spPr>
          <a:xfrm>
            <a:off x="6588370" y="7734567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Minor Writing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Manual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Complex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Risk of Lost Parts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Not Convenient</a:t>
            </a:r>
          </a:p>
        </p:txBody>
      </p:sp>
    </p:spTree>
    <p:extLst>
      <p:ext uri="{BB962C8B-B14F-4D97-AF65-F5344CB8AC3E}">
        <p14:creationId xmlns:p14="http://schemas.microsoft.com/office/powerpoint/2010/main" val="1064387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1C755-E67D-F4F1-E09D-48F51E2F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4768AE-DF15-9DF2-E2C3-F5434C8FAA76}"/>
              </a:ext>
            </a:extLst>
          </p:cNvPr>
          <p:cNvSpPr txBox="1"/>
          <p:nvPr/>
        </p:nvSpPr>
        <p:spPr>
          <a:xfrm>
            <a:off x="1163373" y="216649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2" name="Picture 1" descr="Handframe/Slate and Stylus">
            <a:extLst>
              <a:ext uri="{FF2B5EF4-FFF2-40B4-BE49-F238E27FC236}">
                <a16:creationId xmlns:a16="http://schemas.microsoft.com/office/drawing/2014/main" id="{70952189-C53B-741A-099B-E0A3878A3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137160" y="1786309"/>
            <a:ext cx="5445254" cy="52720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5068FB-270E-190E-1836-1E561F88BE70}"/>
              </a:ext>
            </a:extLst>
          </p:cNvPr>
          <p:cNvSpPr txBox="1"/>
          <p:nvPr/>
        </p:nvSpPr>
        <p:spPr>
          <a:xfrm>
            <a:off x="4808500" y="-5148491"/>
            <a:ext cx="6466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4800" b="1" dirty="0"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Low-Cost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800" b="1" dirty="0">
                <a:solidFill>
                  <a:schemeClr val="bg1"/>
                </a:solidFill>
                <a:highlight>
                  <a:srgbClr val="FF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Bilingual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Braille Writing </a:t>
            </a:r>
            <a:r>
              <a:rPr lang="en-US" sz="4800" b="1" dirty="0">
                <a:highlight>
                  <a:srgbClr val="00FFFF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89784C-1335-B42D-4F18-09A33935D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0443" y="7740248"/>
            <a:ext cx="12192000" cy="5495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9E3D0D-3F0D-543B-EE15-C15B84D73A8A}"/>
              </a:ext>
            </a:extLst>
          </p:cNvPr>
          <p:cNvSpPr txBox="1"/>
          <p:nvPr/>
        </p:nvSpPr>
        <p:spPr>
          <a:xfrm>
            <a:off x="5644386" y="2113280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5C9493"/>
                </a:solidFill>
                <a:latin typeface="Bahnschrift" panose="020B0502040204020203" pitchFamily="34" charset="0"/>
              </a:rPr>
              <a:t>Slate &amp; Stylus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C800B-7B47-D10F-6735-C0B103893017}"/>
              </a:ext>
            </a:extLst>
          </p:cNvPr>
          <p:cNvSpPr txBox="1"/>
          <p:nvPr/>
        </p:nvSpPr>
        <p:spPr>
          <a:xfrm>
            <a:off x="6096000" y="3143022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5C9493"/>
                </a:solidFill>
                <a:latin typeface="Bahnschrift" panose="020B0502040204020203" pitchFamily="34" charset="0"/>
              </a:rPr>
              <a:t>Minor </a:t>
            </a: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Writing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</a:t>
            </a:r>
            <a:r>
              <a:rPr lang="en-US" sz="3600" b="1" dirty="0">
                <a:solidFill>
                  <a:srgbClr val="5C9493"/>
                </a:solidFill>
                <a:latin typeface="Bahnschrift" panose="020B0502040204020203" pitchFamily="34" charset="0"/>
              </a:rPr>
              <a:t>Manual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</a:t>
            </a:r>
            <a:r>
              <a:rPr lang="en-US" sz="3600" b="1" dirty="0">
                <a:solidFill>
                  <a:srgbClr val="5C9493"/>
                </a:solidFill>
                <a:latin typeface="Bahnschrift" panose="020B0502040204020203" pitchFamily="34" charset="0"/>
              </a:rPr>
              <a:t>Complex</a:t>
            </a:r>
            <a:br>
              <a:rPr lang="en-US" sz="3600" b="1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rgbClr val="5C9493"/>
                </a:solidFill>
                <a:latin typeface="Bahnschrift" panose="020B0502040204020203" pitchFamily="34" charset="0"/>
              </a:rPr>
              <a:t>Risk</a:t>
            </a: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 of Lost Parts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Not </a:t>
            </a:r>
            <a:r>
              <a:rPr lang="en-US" sz="3600" b="1" dirty="0">
                <a:solidFill>
                  <a:srgbClr val="5C9493"/>
                </a:solidFill>
                <a:latin typeface="Bahnschrift" panose="020B0502040204020203" pitchFamily="34" charset="0"/>
              </a:rPr>
              <a:t>Convenient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78D5E3-1C15-C1FA-B867-704EE5BF055E}"/>
              </a:ext>
            </a:extLst>
          </p:cNvPr>
          <p:cNvSpPr/>
          <p:nvPr/>
        </p:nvSpPr>
        <p:spPr>
          <a:xfrm>
            <a:off x="5842000" y="2991162"/>
            <a:ext cx="152400" cy="2862322"/>
          </a:xfrm>
          <a:prstGeom prst="rect">
            <a:avLst/>
          </a:prstGeom>
          <a:solidFill>
            <a:srgbClr val="5C9493"/>
          </a:solidFill>
          <a:ln>
            <a:solidFill>
              <a:srgbClr val="5C9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6A0EA-C1E9-E6D4-36A4-52011F2298BD}"/>
              </a:ext>
            </a:extLst>
          </p:cNvPr>
          <p:cNvSpPr txBox="1"/>
          <p:nvPr/>
        </p:nvSpPr>
        <p:spPr>
          <a:xfrm>
            <a:off x="-6660586" y="1651615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DC5C0"/>
                </a:solidFill>
                <a:latin typeface="Bahnschrift" panose="020B0502040204020203" pitchFamily="34" charset="0"/>
              </a:rPr>
              <a:t>Perkins Braille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DE295-D80B-2871-EF4A-C436015ECDCA}"/>
              </a:ext>
            </a:extLst>
          </p:cNvPr>
          <p:cNvSpPr txBox="1"/>
          <p:nvPr/>
        </p:nvSpPr>
        <p:spPr>
          <a:xfrm>
            <a:off x="1627290" y="9068599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Minor Writing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Too Manual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Too Complex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Risk of Lost Parts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Not Convenient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6566E2-4F0A-4D7D-4CC9-FB9DBC519F01}"/>
              </a:ext>
            </a:extLst>
          </p:cNvPr>
          <p:cNvSpPr/>
          <p:nvPr/>
        </p:nvSpPr>
        <p:spPr>
          <a:xfrm>
            <a:off x="1474890" y="-3918450"/>
            <a:ext cx="152400" cy="2862322"/>
          </a:xfrm>
          <a:prstGeom prst="rect">
            <a:avLst/>
          </a:prstGeom>
          <a:solidFill>
            <a:srgbClr val="CDC5C0"/>
          </a:solidFill>
          <a:ln>
            <a:solidFill>
              <a:srgbClr val="CD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FB6B5"/>
              </a:solidFill>
            </a:endParaRPr>
          </a:p>
        </p:txBody>
      </p:sp>
      <p:pic>
        <p:nvPicPr>
          <p:cNvPr id="18" name="Picture 17" descr="Perkins Smart English talking brailler for learning braille">
            <a:extLst>
              <a:ext uri="{FF2B5EF4-FFF2-40B4-BE49-F238E27FC236}">
                <a16:creationId xmlns:a16="http://schemas.microsoft.com/office/drawing/2014/main" id="{06DB9795-F5DF-E157-C8B6-5E41A2949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96" r="12308"/>
          <a:stretch>
            <a:fillRect/>
          </a:stretch>
        </p:blipFill>
        <p:spPr>
          <a:xfrm>
            <a:off x="5644386" y="7362057"/>
            <a:ext cx="6132273" cy="539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56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9CFC8-C738-65A9-8A7A-F0D2EBA16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6351EA-D830-CA5B-44DE-01A41FAF45A6}"/>
              </a:ext>
            </a:extLst>
          </p:cNvPr>
          <p:cNvSpPr txBox="1"/>
          <p:nvPr/>
        </p:nvSpPr>
        <p:spPr>
          <a:xfrm>
            <a:off x="1163373" y="216649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C4228-C918-9CF6-73C4-797699DC386B}"/>
              </a:ext>
            </a:extLst>
          </p:cNvPr>
          <p:cNvSpPr txBox="1"/>
          <p:nvPr/>
        </p:nvSpPr>
        <p:spPr>
          <a:xfrm>
            <a:off x="4808500" y="-5148491"/>
            <a:ext cx="6466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4800" b="1" dirty="0"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Low-Cost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800" b="1" dirty="0">
                <a:solidFill>
                  <a:schemeClr val="bg1"/>
                </a:solidFill>
                <a:highlight>
                  <a:srgbClr val="FF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Bilingual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Braille Writing </a:t>
            </a:r>
            <a:r>
              <a:rPr lang="en-US" sz="4800" b="1" dirty="0">
                <a:highlight>
                  <a:srgbClr val="00FFFF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0D53E-18F6-9416-387F-E4C6D66A3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0443" y="7740248"/>
            <a:ext cx="12192000" cy="5495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F6E3CD-E7C8-C24F-980B-B05CEDD986C6}"/>
              </a:ext>
            </a:extLst>
          </p:cNvPr>
          <p:cNvSpPr txBox="1"/>
          <p:nvPr/>
        </p:nvSpPr>
        <p:spPr>
          <a:xfrm>
            <a:off x="1102540" y="2190442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DC5C0"/>
                </a:solidFill>
                <a:latin typeface="Bahnschrift" panose="020B0502040204020203" pitchFamily="34" charset="0"/>
              </a:rPr>
              <a:t>Perkins Braille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4311D-64FD-118E-DAB5-5947CD9CFD66}"/>
              </a:ext>
            </a:extLst>
          </p:cNvPr>
          <p:cNvSpPr txBox="1"/>
          <p:nvPr/>
        </p:nvSpPr>
        <p:spPr>
          <a:xfrm>
            <a:off x="1684473" y="3068324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Too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Bulky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Very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Heavy</a:t>
            </a:r>
          </a:p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Finger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Fatigue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Loud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Noise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highlight>
                  <a:srgbClr val="FF0000"/>
                </a:highlight>
                <a:latin typeface="Bahnschrift" panose="020B0502040204020203" pitchFamily="34" charset="0"/>
              </a:rPr>
              <a:t>700-800 USD!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527B7-64C2-C958-DF1B-9C43BE6C22B9}"/>
              </a:ext>
            </a:extLst>
          </p:cNvPr>
          <p:cNvSpPr/>
          <p:nvPr/>
        </p:nvSpPr>
        <p:spPr>
          <a:xfrm>
            <a:off x="1364631" y="3068324"/>
            <a:ext cx="152400" cy="2862322"/>
          </a:xfrm>
          <a:prstGeom prst="rect">
            <a:avLst/>
          </a:prstGeom>
          <a:solidFill>
            <a:srgbClr val="CDC5C0"/>
          </a:solidFill>
          <a:ln>
            <a:solidFill>
              <a:srgbClr val="CD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FB6B5"/>
              </a:solidFill>
            </a:endParaRPr>
          </a:p>
        </p:txBody>
      </p:sp>
      <p:pic>
        <p:nvPicPr>
          <p:cNvPr id="3" name="Picture 2" descr="Perkins Smart English talking brailler for learning braille">
            <a:extLst>
              <a:ext uri="{FF2B5EF4-FFF2-40B4-BE49-F238E27FC236}">
                <a16:creationId xmlns:a16="http://schemas.microsoft.com/office/drawing/2014/main" id="{D1B15E9F-EB71-5B3E-6306-D441249202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96" r="12308"/>
          <a:stretch>
            <a:fillRect/>
          </a:stretch>
        </p:blipFill>
        <p:spPr>
          <a:xfrm>
            <a:off x="5571250" y="1513642"/>
            <a:ext cx="6132273" cy="5397735"/>
          </a:xfrm>
          <a:prstGeom prst="rect">
            <a:avLst/>
          </a:prstGeom>
        </p:spPr>
      </p:pic>
      <p:pic>
        <p:nvPicPr>
          <p:cNvPr id="11" name="Picture 10" descr="Handframe/Slate and Stylus">
            <a:extLst>
              <a:ext uri="{FF2B5EF4-FFF2-40B4-BE49-F238E27FC236}">
                <a16:creationId xmlns:a16="http://schemas.microsoft.com/office/drawing/2014/main" id="{BDCDBC71-39D2-39C9-C885-49869CD0A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-320040" y="7315510"/>
            <a:ext cx="5445254" cy="5272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762BC5-6459-099B-B266-B4FACF492C3B}"/>
              </a:ext>
            </a:extLst>
          </p:cNvPr>
          <p:cNvSpPr txBox="1"/>
          <p:nvPr/>
        </p:nvSpPr>
        <p:spPr>
          <a:xfrm>
            <a:off x="5430437" y="-5093027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5C9493"/>
                </a:solidFill>
                <a:latin typeface="Bahnschrift" panose="020B0502040204020203" pitchFamily="34" charset="0"/>
              </a:rPr>
              <a:t>Slate &amp; Stylus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3E8248-F3BC-6761-6217-DB82015653BE}"/>
              </a:ext>
            </a:extLst>
          </p:cNvPr>
          <p:cNvSpPr txBox="1"/>
          <p:nvPr/>
        </p:nvSpPr>
        <p:spPr>
          <a:xfrm>
            <a:off x="6324780" y="8520363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Minor Writing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Manual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Complex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Risk of Lost Parts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Not Convenient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49A93A-53C4-573A-5008-AE8CCBDF59B2}"/>
              </a:ext>
            </a:extLst>
          </p:cNvPr>
          <p:cNvSpPr/>
          <p:nvPr/>
        </p:nvSpPr>
        <p:spPr>
          <a:xfrm>
            <a:off x="5659120" y="8520363"/>
            <a:ext cx="152400" cy="2862322"/>
          </a:xfrm>
          <a:prstGeom prst="rect">
            <a:avLst/>
          </a:prstGeom>
          <a:solidFill>
            <a:srgbClr val="5C9493"/>
          </a:solidFill>
          <a:ln>
            <a:solidFill>
              <a:srgbClr val="5C9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3B47CA-7FBF-50B7-5698-790BF7278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17031" y="7315510"/>
            <a:ext cx="8748578" cy="4923692"/>
          </a:xfrm>
          <a:prstGeom prst="rect">
            <a:avLst/>
          </a:prstGeom>
        </p:spPr>
      </p:pic>
      <p:pic>
        <p:nvPicPr>
          <p:cNvPr id="21" name="Picture 20" descr="ESP32 DevKitC | Free SVG">
            <a:extLst>
              <a:ext uri="{FF2B5EF4-FFF2-40B4-BE49-F238E27FC236}">
                <a16:creationId xmlns:a16="http://schemas.microsoft.com/office/drawing/2014/main" id="{164087EA-7953-84DE-ABE4-D2D522CB4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6351" y="3252410"/>
            <a:ext cx="3025772" cy="3025772"/>
          </a:xfrm>
          <a:prstGeom prst="rect">
            <a:avLst/>
          </a:prstGeom>
        </p:spPr>
      </p:pic>
      <p:pic>
        <p:nvPicPr>
          <p:cNvPr id="22" name="Picture 21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F2C50435-40BE-583D-5A7A-A035CBD47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-4742585" y="10691504"/>
            <a:ext cx="2198493" cy="21984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E345510-1E0E-C738-4015-42E5CC03FC42}"/>
              </a:ext>
            </a:extLst>
          </p:cNvPr>
          <p:cNvSpPr txBox="1"/>
          <p:nvPr/>
        </p:nvSpPr>
        <p:spPr>
          <a:xfrm>
            <a:off x="-11966494" y="1334744"/>
            <a:ext cx="59251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Custom 3d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Printed Shell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with Ergonomic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Design Made for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Flexibility 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&amp; Scalability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1DDB5C-1B0B-9A37-619F-640D247F9FF6}"/>
              </a:ext>
            </a:extLst>
          </p:cNvPr>
          <p:cNvSpPr txBox="1"/>
          <p:nvPr/>
        </p:nvSpPr>
        <p:spPr>
          <a:xfrm>
            <a:off x="-10495203" y="5108736"/>
            <a:ext cx="592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B6B5"/>
                </a:solidFill>
                <a:latin typeface="Bahnschrift" panose="020B0502040204020203" pitchFamily="34" charset="0"/>
              </a:rPr>
              <a:t>6 Keys to Type + Shift and Space Key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262174-4AF9-B656-0DEF-F77336F8DB39}"/>
              </a:ext>
            </a:extLst>
          </p:cNvPr>
          <p:cNvSpPr txBox="1"/>
          <p:nvPr/>
        </p:nvSpPr>
        <p:spPr>
          <a:xfrm>
            <a:off x="-10495204" y="4646940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x8 Tactile Switches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BBCE7C7-DAD0-D4AA-A8CA-0310E4C0723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93" t="22605" r="7884" b="24464"/>
          <a:stretch>
            <a:fillRect/>
          </a:stretch>
        </p:blipFill>
        <p:spPr>
          <a:xfrm>
            <a:off x="13266108" y="1749366"/>
            <a:ext cx="3719864" cy="1569660"/>
          </a:xfrm>
          <a:prstGeom prst="roundRect">
            <a:avLst>
              <a:gd name="adj" fmla="val 5327"/>
            </a:avLst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B75061C-0423-056A-6CE2-A0A9C714E40E}"/>
              </a:ext>
            </a:extLst>
          </p:cNvPr>
          <p:cNvSpPr txBox="1"/>
          <p:nvPr/>
        </p:nvSpPr>
        <p:spPr>
          <a:xfrm>
            <a:off x="-3427317" y="1203457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PCB Support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C3B1CC6-4C0C-20B7-267B-F23B22EE9139}"/>
              </a:ext>
            </a:extLst>
          </p:cNvPr>
          <p:cNvGrpSpPr/>
          <p:nvPr/>
        </p:nvGrpSpPr>
        <p:grpSpPr>
          <a:xfrm>
            <a:off x="9371421" y="7650729"/>
            <a:ext cx="1014413" cy="1042595"/>
            <a:chOff x="2865336" y="2558791"/>
            <a:chExt cx="1014413" cy="1042595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851145-901E-EBC5-C5AA-05BDE9045D23}"/>
                </a:ext>
              </a:extLst>
            </p:cNvPr>
            <p:cNvCxnSpPr/>
            <p:nvPr/>
          </p:nvCxnSpPr>
          <p:spPr>
            <a:xfrm>
              <a:off x="2965349" y="2686986"/>
              <a:ext cx="914400" cy="914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84FB79-6A4E-05A0-A694-64E6FF256A15}"/>
                </a:ext>
              </a:extLst>
            </p:cNvPr>
            <p:cNvSpPr/>
            <p:nvPr/>
          </p:nvSpPr>
          <p:spPr>
            <a:xfrm>
              <a:off x="2865336" y="2558791"/>
              <a:ext cx="200025" cy="2150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CBCA195-1368-1CBC-3729-92CFADD2B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86751" y="-2046325"/>
            <a:ext cx="2431297" cy="13683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A3FBD0-B176-7BEC-5A1F-AED54624F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86751" y="-4406989"/>
            <a:ext cx="2431297" cy="13683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A622EF5-C923-78F3-86AC-258DA618349B}"/>
              </a:ext>
            </a:extLst>
          </p:cNvPr>
          <p:cNvSpPr txBox="1"/>
          <p:nvPr/>
        </p:nvSpPr>
        <p:spPr>
          <a:xfrm>
            <a:off x="-5435297" y="2000193"/>
            <a:ext cx="55908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Bahnschrift" panose="020B0502040204020203" pitchFamily="34" charset="0"/>
              </a:rPr>
              <a:t>Requires Braille paper</a:t>
            </a:r>
            <a:r>
              <a:rPr lang="en-US" sz="2000" dirty="0">
                <a:solidFill>
                  <a:srgbClr val="FF0000"/>
                </a:solidFill>
                <a:latin typeface="Bahnschrift" panose="020B0502040204020203" pitchFamily="34" charset="0"/>
              </a:rPr>
              <a:t> to produce its normal output.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Bahnschrift" panose="020B0502040204020203" pitchFamily="34" charset="0"/>
              </a:rPr>
              <a:t>Produces tactile Braille rather than directly providing digital text</a:t>
            </a:r>
            <a:r>
              <a:rPr lang="en-US" sz="2000" dirty="0">
                <a:solidFill>
                  <a:srgbClr val="FF0000"/>
                </a:solidFill>
                <a:latin typeface="Bahnschrift" panose="020B0502040204020203" pitchFamily="34" charset="0"/>
              </a:rPr>
              <a:t> in the standard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Bahnschrift" panose="020B0502040204020203" pitchFamily="34" charset="0"/>
              </a:rPr>
              <a:t>Teachers who do not know Braille cannot directly read the embossed output.</a:t>
            </a:r>
          </a:p>
          <a:p>
            <a:pPr lvl="0"/>
            <a:endParaRPr lang="en-US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endParaRPr lang="en-US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904903-1B95-37E7-2AB9-DE827E227FE8}"/>
              </a:ext>
            </a:extLst>
          </p:cNvPr>
          <p:cNvSpPr txBox="1"/>
          <p:nvPr/>
        </p:nvSpPr>
        <p:spPr>
          <a:xfrm>
            <a:off x="12794853" y="2307838"/>
            <a:ext cx="55908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Converts Braille input into readable digital English and Bangla.</a:t>
            </a:r>
          </a:p>
          <a:p>
            <a:pPr lvl="0" algn="r"/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</a:t>
            </a:r>
          </a:p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Real-time Teacher Software</a:t>
            </a:r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allows teachers to see student output without knowing Braille.</a:t>
            </a:r>
          </a:p>
          <a:p>
            <a:pPr lvl="0" algn="r"/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</a:t>
            </a:r>
          </a:p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No paper required</a:t>
            </a:r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for digital classroom work.</a:t>
            </a:r>
          </a:p>
          <a:p>
            <a:pPr lvl="0" algn="r"/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</a:t>
            </a:r>
          </a:p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Bluetooth connectivity</a:t>
            </a:r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allows it to work with computers, phones, and other compatible devices.</a:t>
            </a:r>
          </a:p>
        </p:txBody>
      </p:sp>
    </p:spTree>
    <p:extLst>
      <p:ext uri="{BB962C8B-B14F-4D97-AF65-F5344CB8AC3E}">
        <p14:creationId xmlns:p14="http://schemas.microsoft.com/office/powerpoint/2010/main" val="4110697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6A5A6-42D7-CB24-0010-16FDCED9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31E18E-E448-93F9-A36D-A628C94A0C0F}"/>
              </a:ext>
            </a:extLst>
          </p:cNvPr>
          <p:cNvSpPr txBox="1"/>
          <p:nvPr/>
        </p:nvSpPr>
        <p:spPr>
          <a:xfrm>
            <a:off x="1163373" y="216649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565F8-FE07-6AE7-8B67-1D65127FF361}"/>
              </a:ext>
            </a:extLst>
          </p:cNvPr>
          <p:cNvSpPr txBox="1"/>
          <p:nvPr/>
        </p:nvSpPr>
        <p:spPr>
          <a:xfrm>
            <a:off x="4808500" y="-5148491"/>
            <a:ext cx="6466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4800" b="1" dirty="0"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Low-Cost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800" b="1" dirty="0">
                <a:solidFill>
                  <a:schemeClr val="bg1"/>
                </a:solidFill>
                <a:highlight>
                  <a:srgbClr val="FF00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Bilingual</a:t>
            </a:r>
            <a:r>
              <a:rPr lang="en-US" sz="4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Braille Writing </a:t>
            </a:r>
            <a:r>
              <a:rPr lang="en-US" sz="4800" b="1" dirty="0">
                <a:highlight>
                  <a:srgbClr val="00FFFF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A25996-56FB-273D-ACFF-44B256ACB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0443" y="7740248"/>
            <a:ext cx="12192000" cy="5495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09F9D5-1634-4627-3DEF-9DC81E6AD4EE}"/>
              </a:ext>
            </a:extLst>
          </p:cNvPr>
          <p:cNvSpPr txBox="1"/>
          <p:nvPr/>
        </p:nvSpPr>
        <p:spPr>
          <a:xfrm>
            <a:off x="1983379" y="1942120"/>
            <a:ext cx="5222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CDC5C0"/>
                </a:solidFill>
                <a:latin typeface="Bahnschrift" panose="020B0502040204020203" pitchFamily="34" charset="0"/>
              </a:rPr>
              <a:t>Perkins Braille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7B726-F798-9C00-6B6F-B1ABB8F7F447}"/>
              </a:ext>
            </a:extLst>
          </p:cNvPr>
          <p:cNvSpPr txBox="1"/>
          <p:nvPr/>
        </p:nvSpPr>
        <p:spPr>
          <a:xfrm>
            <a:off x="1063300" y="8618179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Too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Bulky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Very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Heavy</a:t>
            </a:r>
          </a:p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Finger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Fatigue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Loud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Noise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highlight>
                  <a:srgbClr val="FF0000"/>
                </a:highlight>
                <a:latin typeface="Bahnschrift" panose="020B0502040204020203" pitchFamily="34" charset="0"/>
              </a:rPr>
              <a:t>700-800 USD!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8EDD26-762D-B31D-89FA-B09DA12A9E25}"/>
              </a:ext>
            </a:extLst>
          </p:cNvPr>
          <p:cNvSpPr/>
          <p:nvPr/>
        </p:nvSpPr>
        <p:spPr>
          <a:xfrm>
            <a:off x="743458" y="8618179"/>
            <a:ext cx="152400" cy="2862322"/>
          </a:xfrm>
          <a:prstGeom prst="rect">
            <a:avLst/>
          </a:prstGeom>
          <a:solidFill>
            <a:srgbClr val="CDC5C0"/>
          </a:solidFill>
          <a:ln>
            <a:solidFill>
              <a:srgbClr val="CD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FB6B5"/>
              </a:solidFill>
            </a:endParaRPr>
          </a:p>
        </p:txBody>
      </p:sp>
      <p:pic>
        <p:nvPicPr>
          <p:cNvPr id="3" name="Picture 2" descr="Perkins Smart English talking brailler for learning braille">
            <a:extLst>
              <a:ext uri="{FF2B5EF4-FFF2-40B4-BE49-F238E27FC236}">
                <a16:creationId xmlns:a16="http://schemas.microsoft.com/office/drawing/2014/main" id="{CCEDC25B-1F9E-1E58-BFB4-16A59A572B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96" r="12308"/>
          <a:stretch>
            <a:fillRect/>
          </a:stretch>
        </p:blipFill>
        <p:spPr>
          <a:xfrm>
            <a:off x="735784" y="1747764"/>
            <a:ext cx="1209773" cy="1064863"/>
          </a:xfrm>
          <a:prstGeom prst="rect">
            <a:avLst/>
          </a:prstGeom>
        </p:spPr>
      </p:pic>
      <p:pic>
        <p:nvPicPr>
          <p:cNvPr id="11" name="Picture 10" descr="Handframe/Slate and Stylus">
            <a:extLst>
              <a:ext uri="{FF2B5EF4-FFF2-40B4-BE49-F238E27FC236}">
                <a16:creationId xmlns:a16="http://schemas.microsoft.com/office/drawing/2014/main" id="{343C4A66-78FB-15D9-E77D-E7D20CBD8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-320040" y="7315510"/>
            <a:ext cx="5445254" cy="5272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6F817A-E5A9-A288-50CC-D043F9BDECF4}"/>
              </a:ext>
            </a:extLst>
          </p:cNvPr>
          <p:cNvSpPr txBox="1"/>
          <p:nvPr/>
        </p:nvSpPr>
        <p:spPr>
          <a:xfrm>
            <a:off x="5430437" y="-5093027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5C9493"/>
                </a:solidFill>
                <a:latin typeface="Bahnschrift" panose="020B0502040204020203" pitchFamily="34" charset="0"/>
              </a:rPr>
              <a:t>Slate &amp; Stylus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E7390-BB27-784D-B3F4-C2BB3A4B75E6}"/>
              </a:ext>
            </a:extLst>
          </p:cNvPr>
          <p:cNvSpPr txBox="1"/>
          <p:nvPr/>
        </p:nvSpPr>
        <p:spPr>
          <a:xfrm>
            <a:off x="6324780" y="8520363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Minor Writing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Manual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Too Complex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Risk of Lost Parts</a:t>
            </a:r>
            <a:b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5C9493"/>
                </a:solidFill>
                <a:latin typeface="Bahnschrift" panose="020B0502040204020203" pitchFamily="34" charset="0"/>
              </a:rPr>
              <a:t>Not Convenient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CA1465-58EF-5DB7-9884-6D52D74F77AB}"/>
              </a:ext>
            </a:extLst>
          </p:cNvPr>
          <p:cNvSpPr/>
          <p:nvPr/>
        </p:nvSpPr>
        <p:spPr>
          <a:xfrm>
            <a:off x="5659120" y="8520363"/>
            <a:ext cx="152400" cy="2862322"/>
          </a:xfrm>
          <a:prstGeom prst="rect">
            <a:avLst/>
          </a:prstGeom>
          <a:solidFill>
            <a:srgbClr val="5C9493"/>
          </a:solidFill>
          <a:ln>
            <a:solidFill>
              <a:srgbClr val="5C9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82473D-693F-F453-8700-F5C2A796D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17031" y="7315510"/>
            <a:ext cx="8748578" cy="4923692"/>
          </a:xfrm>
          <a:prstGeom prst="rect">
            <a:avLst/>
          </a:prstGeom>
        </p:spPr>
      </p:pic>
      <p:pic>
        <p:nvPicPr>
          <p:cNvPr id="21" name="Picture 20" descr="ESP32 DevKitC | Free SVG">
            <a:extLst>
              <a:ext uri="{FF2B5EF4-FFF2-40B4-BE49-F238E27FC236}">
                <a16:creationId xmlns:a16="http://schemas.microsoft.com/office/drawing/2014/main" id="{0DC22288-625B-2BEA-7AA8-C47351994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6351" y="3252410"/>
            <a:ext cx="3025772" cy="3025772"/>
          </a:xfrm>
          <a:prstGeom prst="rect">
            <a:avLst/>
          </a:prstGeom>
        </p:spPr>
      </p:pic>
      <p:pic>
        <p:nvPicPr>
          <p:cNvPr id="22" name="Picture 21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8947AEB0-FDF0-332D-05A1-9BD4462B29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-4742585" y="10691504"/>
            <a:ext cx="2198493" cy="21984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F68374F-AE53-C01C-FB9C-B96FA71F2DC6}"/>
              </a:ext>
            </a:extLst>
          </p:cNvPr>
          <p:cNvSpPr txBox="1"/>
          <p:nvPr/>
        </p:nvSpPr>
        <p:spPr>
          <a:xfrm>
            <a:off x="-11966494" y="1334744"/>
            <a:ext cx="59251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Custom 3d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Printed Shell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with Ergonomic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Design Made for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Flexibility 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&amp; Scalability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7647FD-35C9-02D9-08EA-A57963D4908B}"/>
              </a:ext>
            </a:extLst>
          </p:cNvPr>
          <p:cNvSpPr txBox="1"/>
          <p:nvPr/>
        </p:nvSpPr>
        <p:spPr>
          <a:xfrm>
            <a:off x="-10495203" y="5108736"/>
            <a:ext cx="592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B6B5"/>
                </a:solidFill>
                <a:latin typeface="Bahnschrift" panose="020B0502040204020203" pitchFamily="34" charset="0"/>
              </a:rPr>
              <a:t>6 Keys to Type + Shift and Space Key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0F524C-DE3E-B341-D0C4-8398A8469BE3}"/>
              </a:ext>
            </a:extLst>
          </p:cNvPr>
          <p:cNvSpPr txBox="1"/>
          <p:nvPr/>
        </p:nvSpPr>
        <p:spPr>
          <a:xfrm>
            <a:off x="-10495204" y="4646940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x8 Tactile Switches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6F98CEF-C39F-7B1B-F4B6-D36CAB2C91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93" t="22605" r="7884" b="24464"/>
          <a:stretch>
            <a:fillRect/>
          </a:stretch>
        </p:blipFill>
        <p:spPr>
          <a:xfrm>
            <a:off x="13266108" y="1749366"/>
            <a:ext cx="3719864" cy="1569660"/>
          </a:xfrm>
          <a:prstGeom prst="roundRect">
            <a:avLst>
              <a:gd name="adj" fmla="val 5327"/>
            </a:avLst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7875D67-A21E-B5B8-2635-48F75D6A4C83}"/>
              </a:ext>
            </a:extLst>
          </p:cNvPr>
          <p:cNvSpPr txBox="1"/>
          <p:nvPr/>
        </p:nvSpPr>
        <p:spPr>
          <a:xfrm>
            <a:off x="-3427317" y="1203457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PCB Support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DB71B4-4BB3-FFE8-1A10-F2B51207FB9D}"/>
              </a:ext>
            </a:extLst>
          </p:cNvPr>
          <p:cNvGrpSpPr/>
          <p:nvPr/>
        </p:nvGrpSpPr>
        <p:grpSpPr>
          <a:xfrm>
            <a:off x="9371421" y="7650729"/>
            <a:ext cx="1014413" cy="1042595"/>
            <a:chOff x="2865336" y="2558791"/>
            <a:chExt cx="1014413" cy="1042595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DDE7D1A-20C0-453A-CE88-6ECD2CF2FB07}"/>
                </a:ext>
              </a:extLst>
            </p:cNvPr>
            <p:cNvCxnSpPr/>
            <p:nvPr/>
          </p:nvCxnSpPr>
          <p:spPr>
            <a:xfrm>
              <a:off x="2965349" y="2686986"/>
              <a:ext cx="914400" cy="914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696D83D-F430-5952-56B3-2D92374369FC}"/>
                </a:ext>
              </a:extLst>
            </p:cNvPr>
            <p:cNvSpPr/>
            <p:nvPr/>
          </p:nvSpPr>
          <p:spPr>
            <a:xfrm>
              <a:off x="2865336" y="2558791"/>
              <a:ext cx="200025" cy="2150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613F337-C4FD-61AD-FE52-710F224DE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86751" y="1622830"/>
            <a:ext cx="2431297" cy="13683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19FEFE-10A8-7ED9-96E9-ED0F0439F241}"/>
              </a:ext>
            </a:extLst>
          </p:cNvPr>
          <p:cNvSpPr txBox="1"/>
          <p:nvPr/>
        </p:nvSpPr>
        <p:spPr>
          <a:xfrm>
            <a:off x="-3282623" y="1203457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PCB Support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D09947-796A-B556-AC35-3D813EE3D5B3}"/>
              </a:ext>
            </a:extLst>
          </p:cNvPr>
          <p:cNvSpPr txBox="1"/>
          <p:nvPr/>
        </p:nvSpPr>
        <p:spPr>
          <a:xfrm>
            <a:off x="8312031" y="2003652"/>
            <a:ext cx="592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The Solution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8D7403-6BBA-95DC-1D5E-56A51E3F8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86751" y="-2046325"/>
            <a:ext cx="2431297" cy="13683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EEEF8A-900F-3BEC-3F30-0A2C9F543AF7}"/>
              </a:ext>
            </a:extLst>
          </p:cNvPr>
          <p:cNvSpPr txBox="1"/>
          <p:nvPr/>
        </p:nvSpPr>
        <p:spPr>
          <a:xfrm>
            <a:off x="548192" y="3180649"/>
            <a:ext cx="55908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Bahnschrift" panose="020B0502040204020203" pitchFamily="34" charset="0"/>
              </a:rPr>
              <a:t>Requires Braille paper</a:t>
            </a:r>
            <a:r>
              <a:rPr lang="en-US" sz="2000" dirty="0">
                <a:solidFill>
                  <a:srgbClr val="FF0000"/>
                </a:solidFill>
                <a:latin typeface="Bahnschrift" panose="020B0502040204020203" pitchFamily="34" charset="0"/>
              </a:rPr>
              <a:t> to produce its normal output.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Bahnschrift" panose="020B0502040204020203" pitchFamily="34" charset="0"/>
              </a:rPr>
              <a:t>Produces tactile Braille rather than directly providing digital text</a:t>
            </a:r>
            <a:r>
              <a:rPr lang="en-US" sz="2000" dirty="0">
                <a:solidFill>
                  <a:srgbClr val="FF0000"/>
                </a:solidFill>
                <a:latin typeface="Bahnschrift" panose="020B0502040204020203" pitchFamily="34" charset="0"/>
              </a:rPr>
              <a:t> in the standard model.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Bahnschrift" panose="020B0502040204020203" pitchFamily="34" charset="0"/>
              </a:rPr>
              <a:t>Teachers who do not know Braille cannot directly read the embossed output.</a:t>
            </a:r>
          </a:p>
          <a:p>
            <a:pPr lvl="0"/>
            <a:endParaRPr lang="en-US" dirty="0">
              <a:solidFill>
                <a:srgbClr val="FF0000"/>
              </a:solidFill>
              <a:latin typeface="Bahnschrift" panose="020B0502040204020203" pitchFamily="34" charset="0"/>
            </a:endParaRPr>
          </a:p>
          <a:p>
            <a:endParaRPr lang="en-US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4B0E8-E8BB-CBDE-B9FA-D6A179F4D8C0}"/>
              </a:ext>
            </a:extLst>
          </p:cNvPr>
          <p:cNvSpPr txBox="1"/>
          <p:nvPr/>
        </p:nvSpPr>
        <p:spPr>
          <a:xfrm>
            <a:off x="6139085" y="2968659"/>
            <a:ext cx="55908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Converts Braille input into readable digital English and Bangla.</a:t>
            </a:r>
          </a:p>
          <a:p>
            <a:pPr lvl="0" algn="r"/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</a:t>
            </a:r>
          </a:p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Real-time Teacher Software</a:t>
            </a:r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allows teachers to see student output without knowing Braille.</a:t>
            </a:r>
          </a:p>
          <a:p>
            <a:pPr lvl="0" algn="r"/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</a:t>
            </a:r>
          </a:p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No paper required</a:t>
            </a:r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for digital classroom work.</a:t>
            </a:r>
          </a:p>
          <a:p>
            <a:pPr lvl="0" algn="r"/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</a:t>
            </a:r>
          </a:p>
          <a:p>
            <a:pPr lvl="0" algn="r"/>
            <a:r>
              <a:rPr lang="en-US" b="1" dirty="0">
                <a:solidFill>
                  <a:srgbClr val="0DFF2A"/>
                </a:solidFill>
                <a:latin typeface="Bahnschrift" panose="020B0502040204020203" pitchFamily="34" charset="0"/>
              </a:rPr>
              <a:t>Bluetooth connectivity</a:t>
            </a:r>
            <a:r>
              <a:rPr lang="en-US" dirty="0">
                <a:solidFill>
                  <a:srgbClr val="0DFF2A"/>
                </a:solidFill>
                <a:latin typeface="Bahnschrift" panose="020B0502040204020203" pitchFamily="34" charset="0"/>
              </a:rPr>
              <a:t> allows it to work with computers, phones, and other compatible devices.</a:t>
            </a:r>
          </a:p>
        </p:txBody>
      </p:sp>
    </p:spTree>
    <p:extLst>
      <p:ext uri="{BB962C8B-B14F-4D97-AF65-F5344CB8AC3E}">
        <p14:creationId xmlns:p14="http://schemas.microsoft.com/office/powerpoint/2010/main" val="6514435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14909-8B28-20FA-EED2-7030E1B22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8B9F6D6-D6F4-F8CD-858F-87AD80F8F60D}"/>
              </a:ext>
            </a:extLst>
          </p:cNvPr>
          <p:cNvSpPr txBox="1"/>
          <p:nvPr/>
        </p:nvSpPr>
        <p:spPr>
          <a:xfrm>
            <a:off x="1163373" y="216649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2648B2-CAB9-AAAD-8CEF-7C06165FF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0443" y="7740248"/>
            <a:ext cx="12192000" cy="5495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5B1050-9081-3A0D-D90C-CD67A14AA8B3}"/>
              </a:ext>
            </a:extLst>
          </p:cNvPr>
          <p:cNvSpPr txBox="1"/>
          <p:nvPr/>
        </p:nvSpPr>
        <p:spPr>
          <a:xfrm>
            <a:off x="-6939491" y="2015295"/>
            <a:ext cx="5222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DC5C0"/>
                </a:solidFill>
                <a:latin typeface="Bahnschrift" panose="020B0502040204020203" pitchFamily="34" charset="0"/>
              </a:rPr>
              <a:t>Perkins Braille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C2A12-344D-9873-7B02-B1A559F5E9A8}"/>
              </a:ext>
            </a:extLst>
          </p:cNvPr>
          <p:cNvSpPr txBox="1"/>
          <p:nvPr/>
        </p:nvSpPr>
        <p:spPr>
          <a:xfrm>
            <a:off x="-6357558" y="2893177"/>
            <a:ext cx="4886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Too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Bulky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Very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Heavy</a:t>
            </a:r>
          </a:p>
          <a:p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Finger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Fatigue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  <a:t>Loud </a:t>
            </a:r>
            <a:r>
              <a:rPr lang="en-US" sz="3600" b="1" dirty="0">
                <a:solidFill>
                  <a:srgbClr val="CDC5C0"/>
                </a:solidFill>
                <a:latin typeface="Bahnschrift" panose="020B0502040204020203" pitchFamily="34" charset="0"/>
              </a:rPr>
              <a:t>Noise</a:t>
            </a:r>
            <a:br>
              <a:rPr lang="en-US" sz="3600" dirty="0">
                <a:solidFill>
                  <a:srgbClr val="CDC5C0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highlight>
                  <a:srgbClr val="FF0000"/>
                </a:highlight>
                <a:latin typeface="Bahnschrift" panose="020B0502040204020203" pitchFamily="34" charset="0"/>
              </a:rPr>
              <a:t>700-800 USD!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715D3-43B8-CC3E-9612-675943706E3E}"/>
              </a:ext>
            </a:extLst>
          </p:cNvPr>
          <p:cNvSpPr/>
          <p:nvPr/>
        </p:nvSpPr>
        <p:spPr>
          <a:xfrm>
            <a:off x="-6677400" y="2893177"/>
            <a:ext cx="152400" cy="2862322"/>
          </a:xfrm>
          <a:prstGeom prst="rect">
            <a:avLst/>
          </a:prstGeom>
          <a:solidFill>
            <a:srgbClr val="CDC5C0"/>
          </a:solidFill>
          <a:ln>
            <a:solidFill>
              <a:srgbClr val="CDC5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FB6B5"/>
              </a:solidFill>
            </a:endParaRPr>
          </a:p>
        </p:txBody>
      </p:sp>
      <p:pic>
        <p:nvPicPr>
          <p:cNvPr id="3" name="Picture 2" descr="Perkins Smart English talking brailler for learning braille">
            <a:extLst>
              <a:ext uri="{FF2B5EF4-FFF2-40B4-BE49-F238E27FC236}">
                <a16:creationId xmlns:a16="http://schemas.microsoft.com/office/drawing/2014/main" id="{771EB661-3765-0C26-4842-328133159C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96" r="12308"/>
          <a:stretch>
            <a:fillRect/>
          </a:stretch>
        </p:blipFill>
        <p:spPr>
          <a:xfrm>
            <a:off x="14082204" y="1001479"/>
            <a:ext cx="6132273" cy="5397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04B3B8-FCA9-2C80-FE03-FDB208EC8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512164" y="1093461"/>
            <a:ext cx="8748578" cy="4923692"/>
          </a:xfrm>
          <a:prstGeom prst="rect">
            <a:avLst/>
          </a:prstGeom>
        </p:spPr>
      </p:pic>
      <p:pic>
        <p:nvPicPr>
          <p:cNvPr id="12" name="Picture 11" descr="ESP32 DevKitC | Free SVG">
            <a:extLst>
              <a:ext uri="{FF2B5EF4-FFF2-40B4-BE49-F238E27FC236}">
                <a16:creationId xmlns:a16="http://schemas.microsoft.com/office/drawing/2014/main" id="{B8AE33A6-619C-2691-B117-37A5A973F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782" y="4156888"/>
            <a:ext cx="3025772" cy="30257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8A97BA-B013-AACD-BB6D-A2ED77D38675}"/>
              </a:ext>
            </a:extLst>
          </p:cNvPr>
          <p:cNvSpPr txBox="1"/>
          <p:nvPr/>
        </p:nvSpPr>
        <p:spPr>
          <a:xfrm>
            <a:off x="9813775" y="4043654"/>
            <a:ext cx="2042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ESP-32</a:t>
            </a:r>
          </a:p>
        </p:txBody>
      </p:sp>
      <p:pic>
        <p:nvPicPr>
          <p:cNvPr id="16" name="Picture 15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14B1BD1B-65B9-DBD8-019E-3B0CFFD05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0" y="4757274"/>
            <a:ext cx="2198493" cy="21984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9D89A0-8535-A1C5-7FD6-7C338925F2FA}"/>
              </a:ext>
            </a:extLst>
          </p:cNvPr>
          <p:cNvSpPr txBox="1"/>
          <p:nvPr/>
        </p:nvSpPr>
        <p:spPr>
          <a:xfrm>
            <a:off x="459967" y="2012329"/>
            <a:ext cx="59251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Custom 3d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Printed Shell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with Ergonomic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Design Made for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Flexibility 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&amp; 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F697B3-24A9-CCC0-7950-47495EB54B2A}"/>
              </a:ext>
            </a:extLst>
          </p:cNvPr>
          <p:cNvSpPr txBox="1"/>
          <p:nvPr/>
        </p:nvSpPr>
        <p:spPr>
          <a:xfrm>
            <a:off x="1931258" y="5786321"/>
            <a:ext cx="592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B6B5"/>
                </a:solidFill>
                <a:latin typeface="Bahnschrift" panose="020B0502040204020203" pitchFamily="34" charset="0"/>
              </a:rPr>
              <a:t>6 Keys to Type + Shift and Space Key</a:t>
            </a:r>
          </a:p>
        </p:txBody>
      </p:sp>
      <p:pic>
        <p:nvPicPr>
          <p:cNvPr id="21" name="Picture 20" descr="File:C++ logo.png - Wikimedia Commons">
            <a:extLst>
              <a:ext uri="{FF2B5EF4-FFF2-40B4-BE49-F238E27FC236}">
                <a16:creationId xmlns:a16="http://schemas.microsoft.com/office/drawing/2014/main" id="{AE297CF3-1768-3D82-59DF-82614BBE7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9130" y="3976366"/>
            <a:ext cx="694645" cy="78090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EBF7393-DFC1-6202-F6C0-2EF9947DB548}"/>
              </a:ext>
            </a:extLst>
          </p:cNvPr>
          <p:cNvGrpSpPr/>
          <p:nvPr/>
        </p:nvGrpSpPr>
        <p:grpSpPr>
          <a:xfrm>
            <a:off x="2865336" y="2558791"/>
            <a:ext cx="1014413" cy="1042595"/>
            <a:chOff x="2865336" y="2558791"/>
            <a:chExt cx="1014413" cy="10425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D862045-0179-2CC8-8719-7817E24DFDD5}"/>
                </a:ext>
              </a:extLst>
            </p:cNvPr>
            <p:cNvCxnSpPr/>
            <p:nvPr/>
          </p:nvCxnSpPr>
          <p:spPr>
            <a:xfrm>
              <a:off x="2965349" y="2686986"/>
              <a:ext cx="914400" cy="914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F95670B-5B1B-BC8C-58E7-361EB76607CA}"/>
                </a:ext>
              </a:extLst>
            </p:cNvPr>
            <p:cNvSpPr/>
            <p:nvPr/>
          </p:nvSpPr>
          <p:spPr>
            <a:xfrm>
              <a:off x="2865336" y="2558791"/>
              <a:ext cx="200025" cy="2150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58A8DDD-09AE-30BC-490B-64759C0E7F5D}"/>
              </a:ext>
            </a:extLst>
          </p:cNvPr>
          <p:cNvSpPr txBox="1"/>
          <p:nvPr/>
        </p:nvSpPr>
        <p:spPr>
          <a:xfrm>
            <a:off x="1931257" y="5324525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x8 Tactile Switches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5749E13-0449-C4B9-3C3B-92E05C09445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493" t="22605" r="7884" b="24464"/>
          <a:stretch>
            <a:fillRect/>
          </a:stretch>
        </p:blipFill>
        <p:spPr>
          <a:xfrm>
            <a:off x="8241863" y="2177518"/>
            <a:ext cx="3719864" cy="1569660"/>
          </a:xfrm>
          <a:prstGeom prst="roundRect">
            <a:avLst>
              <a:gd name="adj" fmla="val 5327"/>
            </a:avLst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F771648-1A10-A599-C83F-77DDBA2C1E69}"/>
              </a:ext>
            </a:extLst>
          </p:cNvPr>
          <p:cNvSpPr txBox="1"/>
          <p:nvPr/>
        </p:nvSpPr>
        <p:spPr>
          <a:xfrm>
            <a:off x="8999144" y="1881042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PCB Support</a:t>
            </a:r>
          </a:p>
        </p:txBody>
      </p:sp>
      <p:pic>
        <p:nvPicPr>
          <p:cNvPr id="42" name="Picture 41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93DCF194-2EDC-6DB4-126A-0447BF547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083" y="4687074"/>
            <a:ext cx="2198493" cy="2198493"/>
          </a:xfrm>
          <a:prstGeom prst="rect">
            <a:avLst/>
          </a:prstGeom>
        </p:spPr>
      </p:pic>
      <p:pic>
        <p:nvPicPr>
          <p:cNvPr id="44" name="Picture 43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CF36F30B-13E2-C0D8-08C6-E870EBF26C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96483" y="4839474"/>
            <a:ext cx="2198493" cy="2198493"/>
          </a:xfrm>
          <a:prstGeom prst="rect">
            <a:avLst/>
          </a:prstGeom>
        </p:spPr>
      </p:pic>
      <p:pic>
        <p:nvPicPr>
          <p:cNvPr id="46" name="Picture 45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90AD7D9B-CD9F-A1F4-A59F-E0831057B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515453" y="6279385"/>
            <a:ext cx="2198493" cy="2198493"/>
          </a:xfrm>
          <a:prstGeom prst="rect">
            <a:avLst/>
          </a:prstGeom>
        </p:spPr>
      </p:pic>
      <p:pic>
        <p:nvPicPr>
          <p:cNvPr id="48" name="Picture 47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C6035ED4-A021-138F-3AD3-A158CAA31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306011" y="-1520179"/>
            <a:ext cx="2198493" cy="2198493"/>
          </a:xfrm>
          <a:prstGeom prst="rect">
            <a:avLst/>
          </a:prstGeom>
        </p:spPr>
      </p:pic>
      <p:pic>
        <p:nvPicPr>
          <p:cNvPr id="50" name="Picture 49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B69BAAE8-72D4-542C-5108-D8776729D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673619" y="3001025"/>
            <a:ext cx="2198493" cy="2198493"/>
          </a:xfrm>
          <a:prstGeom prst="rect">
            <a:avLst/>
          </a:prstGeom>
        </p:spPr>
      </p:pic>
      <p:pic>
        <p:nvPicPr>
          <p:cNvPr id="52" name="Picture 51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9E838F04-5828-0A75-5738-FE913A94C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1673619" y="278467"/>
            <a:ext cx="2198493" cy="2198493"/>
          </a:xfrm>
          <a:prstGeom prst="rect">
            <a:avLst/>
          </a:prstGeom>
        </p:spPr>
      </p:pic>
      <p:pic>
        <p:nvPicPr>
          <p:cNvPr id="54" name="Picture 53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7C53185B-A308-440A-535E-AD875E0FD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-1570625" y="422929"/>
            <a:ext cx="2198493" cy="2198493"/>
          </a:xfrm>
          <a:prstGeom prst="rect">
            <a:avLst/>
          </a:prstGeom>
        </p:spPr>
      </p:pic>
      <p:pic>
        <p:nvPicPr>
          <p:cNvPr id="56" name="Picture 55" descr="Amazon.co.jp: OUTEMU (Gaote) Red Mechanical Key Switch (Red Axis) 20 Kets  (20 Pieces) | Linear Switch | 3 Pin | DIY Interchangeable Switch for ...">
            <a:extLst>
              <a:ext uri="{FF2B5EF4-FFF2-40B4-BE49-F238E27FC236}">
                <a16:creationId xmlns:a16="http://schemas.microsoft.com/office/drawing/2014/main" id="{FD1F7353-B0E1-78C7-FEA5-20246A630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-1570626" y="2828031"/>
            <a:ext cx="2198493" cy="219849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3B32785-2480-6790-34BE-A8FD55ADE68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967" t="27289" r="2916" b="19167"/>
          <a:stretch>
            <a:fillRect/>
          </a:stretch>
        </p:blipFill>
        <p:spPr>
          <a:xfrm>
            <a:off x="1567402" y="7967141"/>
            <a:ext cx="8420100" cy="4739942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38A024E-D802-2484-0456-BE0EF9073877}"/>
              </a:ext>
            </a:extLst>
          </p:cNvPr>
          <p:cNvSpPr txBox="1"/>
          <p:nvPr/>
        </p:nvSpPr>
        <p:spPr>
          <a:xfrm>
            <a:off x="10021247" y="-4701782"/>
            <a:ext cx="7524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H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O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R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D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CEAC44-6A6C-F770-0FEB-420E233CF1CD}"/>
              </a:ext>
            </a:extLst>
          </p:cNvPr>
          <p:cNvSpPr txBox="1"/>
          <p:nvPr/>
        </p:nvSpPr>
        <p:spPr>
          <a:xfrm>
            <a:off x="10937079" y="7592370"/>
            <a:ext cx="7524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Y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T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E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083704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4910F-72EB-5B2B-5741-95DFA19D7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6E7833-EF6B-14AA-3686-DD6143C1E815}"/>
              </a:ext>
            </a:extLst>
          </p:cNvPr>
          <p:cNvSpPr txBox="1"/>
          <p:nvPr/>
        </p:nvSpPr>
        <p:spPr>
          <a:xfrm>
            <a:off x="1163373" y="216649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EEACE4-FB20-80EF-C320-5044EDAA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8552095" y="216649"/>
            <a:ext cx="8748578" cy="4923692"/>
          </a:xfrm>
          <a:prstGeom prst="rect">
            <a:avLst/>
          </a:prstGeom>
        </p:spPr>
      </p:pic>
      <p:pic>
        <p:nvPicPr>
          <p:cNvPr id="12" name="Picture 11" descr="ESP32 DevKitC | Free SVG">
            <a:extLst>
              <a:ext uri="{FF2B5EF4-FFF2-40B4-BE49-F238E27FC236}">
                <a16:creationId xmlns:a16="http://schemas.microsoft.com/office/drawing/2014/main" id="{6A0DADB3-A3A1-04C0-6441-40699A7A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60" y="9112418"/>
            <a:ext cx="3025772" cy="30257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42AAC0-3590-6714-BB1A-FE6283216FD3}"/>
              </a:ext>
            </a:extLst>
          </p:cNvPr>
          <p:cNvSpPr txBox="1"/>
          <p:nvPr/>
        </p:nvSpPr>
        <p:spPr>
          <a:xfrm>
            <a:off x="9550291" y="10682591"/>
            <a:ext cx="2042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ESP-32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52FEA1-43E3-CB39-DFD8-DC1B2EDE2E04}"/>
              </a:ext>
            </a:extLst>
          </p:cNvPr>
          <p:cNvSpPr txBox="1"/>
          <p:nvPr/>
        </p:nvSpPr>
        <p:spPr>
          <a:xfrm>
            <a:off x="196483" y="8651266"/>
            <a:ext cx="59251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Custom 3d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Printed Shell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with Ergonomic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Design Made for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Flexibility 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&amp; 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FDFFFA-0E84-A402-69DC-B932D8F77025}"/>
              </a:ext>
            </a:extLst>
          </p:cNvPr>
          <p:cNvSpPr txBox="1"/>
          <p:nvPr/>
        </p:nvSpPr>
        <p:spPr>
          <a:xfrm>
            <a:off x="1667774" y="12425258"/>
            <a:ext cx="592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B6B5"/>
                </a:solidFill>
                <a:latin typeface="Bahnschrift" panose="020B0502040204020203" pitchFamily="34" charset="0"/>
              </a:rPr>
              <a:t>6 Keys to Type + Shift and Space Key</a:t>
            </a:r>
          </a:p>
        </p:txBody>
      </p:sp>
      <p:pic>
        <p:nvPicPr>
          <p:cNvPr id="21" name="Picture 20" descr="File:C++ logo.png - Wikimedia Commons">
            <a:extLst>
              <a:ext uri="{FF2B5EF4-FFF2-40B4-BE49-F238E27FC236}">
                <a16:creationId xmlns:a16="http://schemas.microsoft.com/office/drawing/2014/main" id="{CE04A0B5-56CE-5C00-62F1-0AED65EFF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601" y="-2420343"/>
            <a:ext cx="694645" cy="78090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7385404-0CDC-28C4-2A48-56B753537DBB}"/>
              </a:ext>
            </a:extLst>
          </p:cNvPr>
          <p:cNvGrpSpPr/>
          <p:nvPr/>
        </p:nvGrpSpPr>
        <p:grpSpPr>
          <a:xfrm>
            <a:off x="2601852" y="9197728"/>
            <a:ext cx="1014413" cy="1042595"/>
            <a:chOff x="2865336" y="2558791"/>
            <a:chExt cx="1014413" cy="10425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9233A09-CFF5-1F7E-B290-E8DF13B90951}"/>
                </a:ext>
              </a:extLst>
            </p:cNvPr>
            <p:cNvCxnSpPr/>
            <p:nvPr/>
          </p:nvCxnSpPr>
          <p:spPr>
            <a:xfrm>
              <a:off x="2965349" y="2686986"/>
              <a:ext cx="914400" cy="914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0C9630D-F64B-AFCA-8FD9-95383634942C}"/>
                </a:ext>
              </a:extLst>
            </p:cNvPr>
            <p:cNvSpPr/>
            <p:nvPr/>
          </p:nvSpPr>
          <p:spPr>
            <a:xfrm>
              <a:off x="2865336" y="2558791"/>
              <a:ext cx="200025" cy="2150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6DD24AA-92C9-806C-536B-A02096B2C104}"/>
              </a:ext>
            </a:extLst>
          </p:cNvPr>
          <p:cNvSpPr txBox="1"/>
          <p:nvPr/>
        </p:nvSpPr>
        <p:spPr>
          <a:xfrm>
            <a:off x="1667773" y="11963462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x8 Tactile Switches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BAC549-0468-A3C9-DD4D-03373E6ABC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93" t="22605" r="7884" b="24464"/>
          <a:stretch>
            <a:fillRect/>
          </a:stretch>
        </p:blipFill>
        <p:spPr>
          <a:xfrm>
            <a:off x="18886634" y="1656483"/>
            <a:ext cx="3719864" cy="1569660"/>
          </a:xfrm>
          <a:prstGeom prst="roundRect">
            <a:avLst>
              <a:gd name="adj" fmla="val 5327"/>
            </a:avLst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EA6A425-EDDF-F0EB-B519-71E9BEDC6CC8}"/>
              </a:ext>
            </a:extLst>
          </p:cNvPr>
          <p:cNvSpPr txBox="1"/>
          <p:nvPr/>
        </p:nvSpPr>
        <p:spPr>
          <a:xfrm>
            <a:off x="9550291" y="9578420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PCB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AEDC3-C294-8FFA-5F71-EAD0BBF394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67" t="27289" r="2916" b="19167"/>
          <a:stretch>
            <a:fillRect/>
          </a:stretch>
        </p:blipFill>
        <p:spPr>
          <a:xfrm>
            <a:off x="505723" y="1720476"/>
            <a:ext cx="8420100" cy="4739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0848F3-0658-9763-CF2B-475BFA26A552}"/>
              </a:ext>
            </a:extLst>
          </p:cNvPr>
          <p:cNvSpPr txBox="1"/>
          <p:nvPr/>
        </p:nvSpPr>
        <p:spPr>
          <a:xfrm>
            <a:off x="9781056" y="1786309"/>
            <a:ext cx="7524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H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O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R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D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6A7C1D-0A32-2F9E-5C7E-63459F5455F7}"/>
              </a:ext>
            </a:extLst>
          </p:cNvPr>
          <p:cNvSpPr txBox="1"/>
          <p:nvPr/>
        </p:nvSpPr>
        <p:spPr>
          <a:xfrm>
            <a:off x="10442854" y="2278144"/>
            <a:ext cx="7524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Y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T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E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M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909E5BD-FA60-46AF-4FAD-72150B30CA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80" y="7343713"/>
            <a:ext cx="9894212" cy="5393530"/>
          </a:xfrm>
          <a:prstGeom prst="roundRect">
            <a:avLst>
              <a:gd name="adj" fmla="val 5202"/>
            </a:avLst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28353E2-81BE-5221-6BE2-DDABB6F53FAC}"/>
              </a:ext>
            </a:extLst>
          </p:cNvPr>
          <p:cNvSpPr txBox="1"/>
          <p:nvPr/>
        </p:nvSpPr>
        <p:spPr>
          <a:xfrm>
            <a:off x="998994" y="-983072"/>
            <a:ext cx="13375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A Purpose-Built Teacher Software</a:t>
            </a:r>
            <a:endParaRPr lang="en-US" sz="4800" b="1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454C7-B08E-A540-C10E-EC9C29A69696}"/>
              </a:ext>
            </a:extLst>
          </p:cNvPr>
          <p:cNvSpPr txBox="1"/>
          <p:nvPr/>
        </p:nvSpPr>
        <p:spPr>
          <a:xfrm>
            <a:off x="12687764" y="91626"/>
            <a:ext cx="123977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What’s Chording?</a:t>
            </a:r>
            <a:endParaRPr lang="en-US" sz="9600" b="1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6B293E-AB14-40D5-9009-6239FFDECC00}"/>
              </a:ext>
            </a:extLst>
          </p:cNvPr>
          <p:cNvSpPr txBox="1"/>
          <p:nvPr/>
        </p:nvSpPr>
        <p:spPr>
          <a:xfrm>
            <a:off x="2274111" y="9347525"/>
            <a:ext cx="874857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Chording is a typing method where you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press multiple keys at the same time to produce one character or command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 Instead of pressing one key for each letter, different combinations of keys represent different characters. In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BrailleBridge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the six keys represent the six dots of a Braille cell, so pressing dot 1 produces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while pressing dots 1+2 together produces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and dots 1+4 produces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 This lets a blind user type using the same dot combinations they already use in Braille, rather than learning a completely different keyboard layout.</a:t>
            </a:r>
          </a:p>
        </p:txBody>
      </p:sp>
    </p:spTree>
    <p:extLst>
      <p:ext uri="{BB962C8B-B14F-4D97-AF65-F5344CB8AC3E}">
        <p14:creationId xmlns:p14="http://schemas.microsoft.com/office/powerpoint/2010/main" val="1211733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8BAFC-F6CB-CFF9-B72B-3EDDD324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21C26D-2DA2-9861-D0EA-0EF647C79EEA}"/>
              </a:ext>
            </a:extLst>
          </p:cNvPr>
          <p:cNvSpPr txBox="1"/>
          <p:nvPr/>
        </p:nvSpPr>
        <p:spPr>
          <a:xfrm>
            <a:off x="1163373" y="216649"/>
            <a:ext cx="123977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What’s Chording?</a:t>
            </a:r>
            <a:endParaRPr lang="en-US" sz="9600" b="1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4B93A-6326-34BC-9863-4E49C8901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8552095" y="216649"/>
            <a:ext cx="8748578" cy="4923692"/>
          </a:xfrm>
          <a:prstGeom prst="rect">
            <a:avLst/>
          </a:prstGeom>
        </p:spPr>
      </p:pic>
      <p:pic>
        <p:nvPicPr>
          <p:cNvPr id="12" name="Picture 11" descr="ESP32 DevKitC | Free SVG">
            <a:extLst>
              <a:ext uri="{FF2B5EF4-FFF2-40B4-BE49-F238E27FC236}">
                <a16:creationId xmlns:a16="http://schemas.microsoft.com/office/drawing/2014/main" id="{EE2D7CEA-55C8-8390-DB4B-89F92CBF0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60" y="9112418"/>
            <a:ext cx="3025772" cy="30257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E5A162-B216-CDA8-23BF-FDF57DE95323}"/>
              </a:ext>
            </a:extLst>
          </p:cNvPr>
          <p:cNvSpPr txBox="1"/>
          <p:nvPr/>
        </p:nvSpPr>
        <p:spPr>
          <a:xfrm>
            <a:off x="9550291" y="10682591"/>
            <a:ext cx="2042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ESP-32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4AACDC-B9B0-B7D3-18D2-F0DCEF184D77}"/>
              </a:ext>
            </a:extLst>
          </p:cNvPr>
          <p:cNvSpPr txBox="1"/>
          <p:nvPr/>
        </p:nvSpPr>
        <p:spPr>
          <a:xfrm>
            <a:off x="196483" y="8651266"/>
            <a:ext cx="59251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Custom 3d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Printed Shell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with Ergonomic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Design Made for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Flexibility </a:t>
            </a:r>
            <a:b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&amp; 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D7C809-B2BA-05C0-B92D-1CEE787851B1}"/>
              </a:ext>
            </a:extLst>
          </p:cNvPr>
          <p:cNvSpPr txBox="1"/>
          <p:nvPr/>
        </p:nvSpPr>
        <p:spPr>
          <a:xfrm>
            <a:off x="1667774" y="12425258"/>
            <a:ext cx="592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FB6B5"/>
                </a:solidFill>
                <a:latin typeface="Bahnschrift" panose="020B0502040204020203" pitchFamily="34" charset="0"/>
              </a:rPr>
              <a:t>6 Keys to Type + Shift and Space Key</a:t>
            </a:r>
          </a:p>
        </p:txBody>
      </p:sp>
      <p:pic>
        <p:nvPicPr>
          <p:cNvPr id="21" name="Picture 20" descr="File:C++ logo.png - Wikimedia Commons">
            <a:extLst>
              <a:ext uri="{FF2B5EF4-FFF2-40B4-BE49-F238E27FC236}">
                <a16:creationId xmlns:a16="http://schemas.microsoft.com/office/drawing/2014/main" id="{B1B7F9A5-4D42-78B2-0EB0-C37B5D320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601" y="-2420343"/>
            <a:ext cx="694645" cy="78090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730585E-BC7C-A0F4-0F3C-181D6194E4D9}"/>
              </a:ext>
            </a:extLst>
          </p:cNvPr>
          <p:cNvGrpSpPr/>
          <p:nvPr/>
        </p:nvGrpSpPr>
        <p:grpSpPr>
          <a:xfrm>
            <a:off x="2601852" y="9197728"/>
            <a:ext cx="1014413" cy="1042595"/>
            <a:chOff x="2865336" y="2558791"/>
            <a:chExt cx="1014413" cy="10425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4933D2-0736-C402-79A7-204219DC06A3}"/>
                </a:ext>
              </a:extLst>
            </p:cNvPr>
            <p:cNvCxnSpPr/>
            <p:nvPr/>
          </p:nvCxnSpPr>
          <p:spPr>
            <a:xfrm>
              <a:off x="2965349" y="2686986"/>
              <a:ext cx="914400" cy="9144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9E74DE4-3843-69D4-CB4D-2F59A5932E6E}"/>
                </a:ext>
              </a:extLst>
            </p:cNvPr>
            <p:cNvSpPr/>
            <p:nvPr/>
          </p:nvSpPr>
          <p:spPr>
            <a:xfrm>
              <a:off x="2865336" y="2558791"/>
              <a:ext cx="200025" cy="21503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1B1B520-A2AD-2B00-EDC4-EEEC3DBD61E8}"/>
              </a:ext>
            </a:extLst>
          </p:cNvPr>
          <p:cNvSpPr txBox="1"/>
          <p:nvPr/>
        </p:nvSpPr>
        <p:spPr>
          <a:xfrm>
            <a:off x="1667773" y="11963462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x8 Tactile Switches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3F78059-6E92-0A1B-6371-8555A597C4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93" t="22605" r="7884" b="24464"/>
          <a:stretch>
            <a:fillRect/>
          </a:stretch>
        </p:blipFill>
        <p:spPr>
          <a:xfrm>
            <a:off x="18886634" y="1656483"/>
            <a:ext cx="3719864" cy="1569660"/>
          </a:xfrm>
          <a:prstGeom prst="roundRect">
            <a:avLst>
              <a:gd name="adj" fmla="val 5327"/>
            </a:avLst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D831DBF-4F15-0580-7739-9933F2DA393A}"/>
              </a:ext>
            </a:extLst>
          </p:cNvPr>
          <p:cNvSpPr txBox="1"/>
          <p:nvPr/>
        </p:nvSpPr>
        <p:spPr>
          <a:xfrm>
            <a:off x="9550291" y="9578420"/>
            <a:ext cx="5925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PCB Support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1D2712-ACF1-4655-FD49-FCA06F6676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80" y="7343713"/>
            <a:ext cx="9894212" cy="5393530"/>
          </a:xfrm>
          <a:prstGeom prst="roundRect">
            <a:avLst>
              <a:gd name="adj" fmla="val 5202"/>
            </a:avLst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7FCB3EB-8D73-BEA2-044B-A2005A19ED72}"/>
              </a:ext>
            </a:extLst>
          </p:cNvPr>
          <p:cNvSpPr txBox="1"/>
          <p:nvPr/>
        </p:nvSpPr>
        <p:spPr>
          <a:xfrm>
            <a:off x="998994" y="-983072"/>
            <a:ext cx="13375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A Purpose-Built Teacher Software</a:t>
            </a:r>
            <a:endParaRPr lang="en-US" sz="4800" b="1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94421-7F36-A6AB-6168-69C090BFAA0E}"/>
              </a:ext>
            </a:extLst>
          </p:cNvPr>
          <p:cNvSpPr txBox="1"/>
          <p:nvPr/>
        </p:nvSpPr>
        <p:spPr>
          <a:xfrm>
            <a:off x="1163373" y="-3850391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F4FA2-526E-2306-9536-2890C7D1220B}"/>
              </a:ext>
            </a:extLst>
          </p:cNvPr>
          <p:cNvSpPr txBox="1"/>
          <p:nvPr/>
        </p:nvSpPr>
        <p:spPr>
          <a:xfrm>
            <a:off x="1667773" y="1547010"/>
            <a:ext cx="874857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Chording is a typing method where you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press multiple keys at the same time to produce one character or command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 Instead of pressing one key for each letter, different combinations of keys represent different characters. In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BrailleBridge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the six keys represent the six dots of a Braille cell, so pressing dot 1 produces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while pressing dots 1+2 together produces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and dots 1+4 produces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 This lets a blind user type using the same dot combinations they already use in Braille, rather than learning a completely different keyboard layout.</a:t>
            </a:r>
          </a:p>
        </p:txBody>
      </p:sp>
    </p:spTree>
    <p:extLst>
      <p:ext uri="{BB962C8B-B14F-4D97-AF65-F5344CB8AC3E}">
        <p14:creationId xmlns:p14="http://schemas.microsoft.com/office/powerpoint/2010/main" val="665967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ECDAC-FC21-E468-F591-40FB05D0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1EC042-8CD8-00E2-336F-AF7926C651F8}"/>
              </a:ext>
            </a:extLst>
          </p:cNvPr>
          <p:cNvSpPr txBox="1"/>
          <p:nvPr/>
        </p:nvSpPr>
        <p:spPr>
          <a:xfrm>
            <a:off x="1159830" y="237140"/>
            <a:ext cx="13375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A Purpose-Built Teacher Software</a:t>
            </a:r>
            <a:endParaRPr lang="en-US" sz="4800" b="1" dirty="0"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190E2-97C7-6150-3AE1-6D7298181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7" t="27289" r="2916" b="19167"/>
          <a:stretch>
            <a:fillRect/>
          </a:stretch>
        </p:blipFill>
        <p:spPr>
          <a:xfrm>
            <a:off x="321604" y="7356234"/>
            <a:ext cx="8420100" cy="47399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2B8E32-22AD-FB96-C103-0528A20A61C8}"/>
              </a:ext>
            </a:extLst>
          </p:cNvPr>
          <p:cNvSpPr txBox="1"/>
          <p:nvPr/>
        </p:nvSpPr>
        <p:spPr>
          <a:xfrm>
            <a:off x="9656885" y="-5013075"/>
            <a:ext cx="7524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C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H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O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R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D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7B4DE7-254C-0760-3BEA-39467610292B}"/>
              </a:ext>
            </a:extLst>
          </p:cNvPr>
          <p:cNvSpPr txBox="1"/>
          <p:nvPr/>
        </p:nvSpPr>
        <p:spPr>
          <a:xfrm>
            <a:off x="10651190" y="7832720"/>
            <a:ext cx="7524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  <a:b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Y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S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T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E</a:t>
            </a:r>
          </a:p>
          <a:p>
            <a:r>
              <a:rPr lang="en-US" sz="3600" b="1" dirty="0">
                <a:solidFill>
                  <a:schemeClr val="bg1"/>
                </a:solidFill>
                <a:latin typeface="Bahnschrift" panose="020B0502040204020203" pitchFamily="34" charset="0"/>
              </a:rPr>
              <a:t>M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9AAADF-82AC-0951-44A8-4CD0578CC97B}"/>
              </a:ext>
            </a:extLst>
          </p:cNvPr>
          <p:cNvSpPr/>
          <p:nvPr/>
        </p:nvSpPr>
        <p:spPr>
          <a:xfrm>
            <a:off x="12934184" y="261869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C5190B-29A7-3E5E-7BE6-33C14341058D}"/>
              </a:ext>
            </a:extLst>
          </p:cNvPr>
          <p:cNvSpPr/>
          <p:nvPr/>
        </p:nvSpPr>
        <p:spPr>
          <a:xfrm>
            <a:off x="13352835" y="727555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6262F9-B163-7AEB-8EC1-66FDC84DC741}"/>
              </a:ext>
            </a:extLst>
          </p:cNvPr>
          <p:cNvSpPr/>
          <p:nvPr/>
        </p:nvSpPr>
        <p:spPr>
          <a:xfrm>
            <a:off x="12884248" y="2125592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53DF0A7-B9F2-2CBD-10A3-B630EB99B6CB}"/>
              </a:ext>
            </a:extLst>
          </p:cNvPr>
          <p:cNvSpPr/>
          <p:nvPr/>
        </p:nvSpPr>
        <p:spPr>
          <a:xfrm>
            <a:off x="13283475" y="2563860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8CBC873-AE6B-2EF2-CE36-EE30FD4E7DBF}"/>
              </a:ext>
            </a:extLst>
          </p:cNvPr>
          <p:cNvSpPr/>
          <p:nvPr/>
        </p:nvSpPr>
        <p:spPr>
          <a:xfrm>
            <a:off x="12934184" y="3003363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57C3BE-40D0-80CB-BBAD-F3A209A9D865}"/>
              </a:ext>
            </a:extLst>
          </p:cNvPr>
          <p:cNvSpPr/>
          <p:nvPr/>
        </p:nvSpPr>
        <p:spPr>
          <a:xfrm>
            <a:off x="13376993" y="3440827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8402C1-AC68-52B0-6C7B-730F75B42162}"/>
              </a:ext>
            </a:extLst>
          </p:cNvPr>
          <p:cNvSpPr/>
          <p:nvPr/>
        </p:nvSpPr>
        <p:spPr>
          <a:xfrm>
            <a:off x="12915968" y="1171641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4516A8C-15B2-AEBB-D9BB-14F854E60C16}"/>
              </a:ext>
            </a:extLst>
          </p:cNvPr>
          <p:cNvSpPr/>
          <p:nvPr/>
        </p:nvSpPr>
        <p:spPr>
          <a:xfrm>
            <a:off x="13283475" y="1735982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3F1D03-7560-8725-5821-66902B4FE304}"/>
              </a:ext>
            </a:extLst>
          </p:cNvPr>
          <p:cNvSpPr/>
          <p:nvPr/>
        </p:nvSpPr>
        <p:spPr>
          <a:xfrm>
            <a:off x="12980191" y="3862951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2A85444-24E1-7D01-62F1-848948B797CE}"/>
              </a:ext>
            </a:extLst>
          </p:cNvPr>
          <p:cNvSpPr/>
          <p:nvPr/>
        </p:nvSpPr>
        <p:spPr>
          <a:xfrm>
            <a:off x="13398842" y="4328637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96367A8-E364-FC0D-676C-8B54E027346A}"/>
              </a:ext>
            </a:extLst>
          </p:cNvPr>
          <p:cNvSpPr/>
          <p:nvPr/>
        </p:nvSpPr>
        <p:spPr>
          <a:xfrm>
            <a:off x="12930255" y="5726674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7060A86-1A22-D9B8-D102-50F604234061}"/>
              </a:ext>
            </a:extLst>
          </p:cNvPr>
          <p:cNvSpPr/>
          <p:nvPr/>
        </p:nvSpPr>
        <p:spPr>
          <a:xfrm>
            <a:off x="13329482" y="6164942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0171C09-E32A-BAF3-74E5-75D93F1F26EF}"/>
              </a:ext>
            </a:extLst>
          </p:cNvPr>
          <p:cNvSpPr/>
          <p:nvPr/>
        </p:nvSpPr>
        <p:spPr>
          <a:xfrm>
            <a:off x="12980191" y="6604445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FE17C7D-4B1F-1AAE-4B8B-3EC114186602}"/>
              </a:ext>
            </a:extLst>
          </p:cNvPr>
          <p:cNvSpPr/>
          <p:nvPr/>
        </p:nvSpPr>
        <p:spPr>
          <a:xfrm>
            <a:off x="13423000" y="7041909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B186A61-5A02-BBBC-A309-82221B5162C1}"/>
              </a:ext>
            </a:extLst>
          </p:cNvPr>
          <p:cNvSpPr/>
          <p:nvPr/>
        </p:nvSpPr>
        <p:spPr>
          <a:xfrm>
            <a:off x="12961975" y="4772723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37B550F-65DB-5ED5-A222-5F5E10011393}"/>
              </a:ext>
            </a:extLst>
          </p:cNvPr>
          <p:cNvSpPr/>
          <p:nvPr/>
        </p:nvSpPr>
        <p:spPr>
          <a:xfrm>
            <a:off x="13329482" y="5337064"/>
            <a:ext cx="276225" cy="3143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0DF89F8-008E-A043-1DB1-6B51AC9A2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33" y="1085737"/>
            <a:ext cx="9894212" cy="5393530"/>
          </a:xfrm>
          <a:prstGeom prst="roundRect">
            <a:avLst>
              <a:gd name="adj" fmla="val 5202"/>
            </a:avLst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60C89A-D574-95F9-3B8D-1AC3F5FD2C8F}"/>
              </a:ext>
            </a:extLst>
          </p:cNvPr>
          <p:cNvSpPr txBox="1"/>
          <p:nvPr/>
        </p:nvSpPr>
        <p:spPr>
          <a:xfrm>
            <a:off x="1161960" y="-1611603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665C49-FF3D-D49E-97E4-F2E24EA1A04F}"/>
              </a:ext>
            </a:extLst>
          </p:cNvPr>
          <p:cNvSpPr txBox="1"/>
          <p:nvPr/>
        </p:nvSpPr>
        <p:spPr>
          <a:xfrm>
            <a:off x="14279880" y="1681071"/>
            <a:ext cx="5698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</a:rPr>
              <a:t>BrailleBridge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highlight>
                  <a:srgbClr val="FFFF00"/>
                </a:highlight>
              </a:rPr>
              <a:t>does not replace Braille.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bg1"/>
                </a:solidFill>
              </a:rPr>
              <a:t>It protects Braille as the student's natural writing method while </a:t>
            </a:r>
            <a:r>
              <a:rPr lang="en-US" sz="3600" b="1" dirty="0">
                <a:solidFill>
                  <a:schemeClr val="bg1"/>
                </a:solidFill>
                <a:highlight>
                  <a:srgbClr val="0000FF"/>
                </a:highlight>
              </a:rPr>
              <a:t>removing the barrier</a:t>
            </a:r>
            <a:r>
              <a:rPr lang="en-US" sz="3600" b="1" dirty="0">
                <a:solidFill>
                  <a:schemeClr val="bg1"/>
                </a:solidFill>
              </a:rPr>
              <a:t> between Braille input and teacher-readable output.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4540ED0-F49D-74CA-79AD-4FB5411B77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33" y="7356234"/>
            <a:ext cx="4317168" cy="509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05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8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9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0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 animBg="1"/>
      <p:bldP spid="17" grpId="0" build="allAtOnce" animBg="1"/>
      <p:bldP spid="20" grpId="0" build="allAtOnce" animBg="1"/>
      <p:bldP spid="22" grpId="0" build="allAtOnce" animBg="1"/>
      <p:bldP spid="23" grpId="0" build="allAtOnce" animBg="1"/>
      <p:bldP spid="24" grpId="0" build="allAtOnce" animBg="1"/>
      <p:bldP spid="28" grpId="0" build="allAtOnce" animBg="1"/>
      <p:bldP spid="29" grpId="0" build="allAtOnce" animBg="1"/>
      <p:bldP spid="41" grpId="0" build="allAtOnce" animBg="1"/>
      <p:bldP spid="43" grpId="0" build="allAtOnce" animBg="1"/>
      <p:bldP spid="45" grpId="0" build="allAtOnce" animBg="1"/>
      <p:bldP spid="47" grpId="0" build="allAtOnce" animBg="1"/>
      <p:bldP spid="49" grpId="0" build="allAtOnce" animBg="1"/>
      <p:bldP spid="51" grpId="0" build="allAtOnce" animBg="1"/>
      <p:bldP spid="53" grpId="0" build="allAtOnce" animBg="1"/>
      <p:bldP spid="55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96A51-7CD6-E7B1-328C-57A1241B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118AB4AE-1129-6278-2F90-2EC99EDA2835}"/>
              </a:ext>
            </a:extLst>
          </p:cNvPr>
          <p:cNvSpPr txBox="1"/>
          <p:nvPr/>
        </p:nvSpPr>
        <p:spPr>
          <a:xfrm>
            <a:off x="1443314" y="192190"/>
            <a:ext cx="123977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Braille</a:t>
            </a:r>
            <a:r>
              <a:rPr lang="en-US" sz="96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scadia Mono" panose="020B0609020000020004" pitchFamily="49" charset="0"/>
                <a:cs typeface="Cascadia Mono" panose="020B0609020000020004" pitchFamily="49" charset="0"/>
              </a:rPr>
              <a:t> Bridge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E4E11-2232-5CFB-0783-94751CF1A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074" y="1761850"/>
            <a:ext cx="4317168" cy="5096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5397A-15D3-2B53-14EA-CB20E051D38D}"/>
              </a:ext>
            </a:extLst>
          </p:cNvPr>
          <p:cNvSpPr txBox="1"/>
          <p:nvPr/>
        </p:nvSpPr>
        <p:spPr>
          <a:xfrm>
            <a:off x="6096000" y="2081778"/>
            <a:ext cx="56986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</a:rPr>
              <a:t>BrailleBridge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highlight>
                  <a:srgbClr val="FFFF00"/>
                </a:highlight>
              </a:rPr>
              <a:t>does not replace Braille.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bg1"/>
                </a:solidFill>
              </a:rPr>
              <a:t>It protects Braille as the student's natural writing method while </a:t>
            </a:r>
            <a:r>
              <a:rPr lang="en-US" sz="3600" b="1" dirty="0">
                <a:solidFill>
                  <a:schemeClr val="bg1"/>
                </a:solidFill>
                <a:highlight>
                  <a:srgbClr val="0000FF"/>
                </a:highlight>
              </a:rPr>
              <a:t>removing the barrier</a:t>
            </a:r>
            <a:r>
              <a:rPr lang="en-US" sz="3600" b="1" dirty="0">
                <a:solidFill>
                  <a:schemeClr val="bg1"/>
                </a:solidFill>
              </a:rPr>
              <a:t> between Braille input and teacher-readable output.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36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865</Words>
  <Application>Microsoft Office PowerPoint</Application>
  <PresentationFormat>Widescreen</PresentationFormat>
  <Paragraphs>112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Bahnschrift</vt:lpstr>
      <vt:lpstr>Cascadia Code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Power User</dc:creator>
  <cp:lastModifiedBy>Power User</cp:lastModifiedBy>
  <cp:revision>3</cp:revision>
  <dcterms:created xsi:type="dcterms:W3CDTF">2026-08-03T16:33:33Z</dcterms:created>
  <dcterms:modified xsi:type="dcterms:W3CDTF">2026-08-11T18:41:43Z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2026-08-04T15:02:18Z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b02c31a8-0e12-4553-91e9-7eb2e400e662</vt:lpwstr>
  </property>
  <property fmtid="{D5CDD505-2E9C-101B-9397-08002B2CF9AE}" pid="7" name="MSIP_Label_defa4170-0d19-0005-0004-bc88714345d2_ActionId">
    <vt:lpwstr>86154095-bedb-4d4e-9ac1-b1852a24ec28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